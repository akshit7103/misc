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88825" cy="10058400"/>
  <p:notesSz cx="100584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478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566160"/>
          </a:xfrm>
          <a:prstGeom prst="rect">
            <a:avLst/>
          </a:prstGeom>
          <a:solidFill>
            <a:srgbClr val="1B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23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417320" y="749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Ops Portal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Allege Dashboard — UI Wireframe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5212080" cy="3108960"/>
          </a:xfrm>
          <a:prstGeom prst="roundRect">
            <a:avLst>
              <a:gd name="adj" fmla="val 4118"/>
            </a:avLst>
          </a:prstGeom>
          <a:solidFill>
            <a:srgbClr val="1F2A38"/>
          </a:solidFill>
          <a:ln w="12700">
            <a:solidFill>
              <a:srgbClr val="314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82296" cy="3108960"/>
          </a:xfrm>
          <a:prstGeom prst="rect">
            <a:avLst/>
          </a:prstGeom>
          <a:solidFill>
            <a:srgbClr val="E23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43000" y="4526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Dashboard screen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51206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B7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hi-fidelity wireframe of the OTC Allege dashboard — pipeline, filter cards, match-status filters and the alleges table. Every element is a native, editable PowerPoint object.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92240" y="4206240"/>
            <a:ext cx="5212080" cy="3108960"/>
          </a:xfrm>
          <a:prstGeom prst="roundRect">
            <a:avLst>
              <a:gd name="adj" fmla="val 4118"/>
            </a:avLst>
          </a:prstGeom>
          <a:solidFill>
            <a:srgbClr val="1F2A38"/>
          </a:solidFill>
          <a:ln w="12700">
            <a:solidFill>
              <a:srgbClr val="314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92240" y="4206240"/>
            <a:ext cx="82296" cy="3108960"/>
          </a:xfrm>
          <a:prstGeom prst="rect">
            <a:avLst/>
          </a:prstGeom>
          <a:solidFill>
            <a:srgbClr val="E23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12280" y="4526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Component library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12280" y="51206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B7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reusable kit: status / risk / sensitivity pills, aging tags, cards, nav states and the table-row anatomy — edit once, reuse anywhere.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7635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A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components · native shapes &amp; text · not screenshots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9692640"/>
            <a:ext cx="12188952" cy="365760"/>
          </a:xfrm>
          <a:prstGeom prst="rect">
            <a:avLst/>
          </a:prstGeom>
          <a:solidFill>
            <a:srgbClr val="E23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9692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BANK-AI  ·  Settlement Operations  ·  Wireframe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3" y="0"/>
            <a:ext cx="1828800" cy="10058400"/>
          </a:xfrm>
          <a:prstGeom prst="rect">
            <a:avLst/>
          </a:prstGeom>
          <a:solidFill>
            <a:srgbClr val="EFEE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01168" y="2377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23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85216" y="201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BANK-AI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517904" y="21945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" y="86868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DCE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19456" y="8686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8686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" y="1380744"/>
            <a:ext cx="310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38074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9456" y="1493657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1493657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Comparison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" y="25146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005721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Anything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456" y="2517785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517785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7617" y="3029849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029849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9728" y="8732520"/>
            <a:ext cx="1609344" cy="10973"/>
          </a:xfrm>
          <a:prstGeom prst="rect">
            <a:avLst/>
          </a:prstGeom>
          <a:solidFill>
            <a:srgbClr val="E4E4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82880" y="8942832"/>
            <a:ext cx="384048" cy="384048"/>
          </a:xfrm>
          <a:prstGeom prst="ellipse">
            <a:avLst/>
          </a:prstGeom>
          <a:solidFill>
            <a:srgbClr val="DCE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82880" y="8942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894283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Ginny Weasley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9180576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8368" y="91805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Analyst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2880" y="9555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Sign Out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" y="98023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03120" y="182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Ops Portal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61320" y="182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Ginny Weasley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34272" y="21031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034272" y="2103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Analyst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79208" y="2286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chemeClr val="bg1"/>
                </a:solidFill>
              </a:rPr>
              <a:t>Analyst</a:t>
            </a:r>
          </a:p>
        </p:txBody>
      </p:sp>
      <p:sp>
        <p:nvSpPr>
          <p:cNvPr id="36" name="Text 34"/>
          <p:cNvSpPr/>
          <p:nvPr/>
        </p:nvSpPr>
        <p:spPr>
          <a:xfrm>
            <a:off x="2103120" y="65836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back, Ginny Weasley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103120" y="1060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Allege Dashboard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03120" y="1463040"/>
            <a:ext cx="9692640" cy="1481328"/>
          </a:xfrm>
          <a:prstGeom prst="roundRect">
            <a:avLst>
              <a:gd name="adj" fmla="val 6173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377440" y="1627632"/>
            <a:ext cx="1726387" cy="120700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2449399" y="1856232"/>
            <a:ext cx="91440" cy="91440"/>
          </a:xfrm>
          <a:prstGeom prst="ellipse">
            <a:avLst/>
          </a:prstGeom>
          <a:solidFill>
            <a:srgbClr val="9AA6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633472" y="1789839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2456953" y="2251416"/>
            <a:ext cx="1488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confirmation from analyst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231843" y="1627632"/>
            <a:ext cx="1726387" cy="120700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332427" y="1859417"/>
            <a:ext cx="91440" cy="91440"/>
          </a:xfrm>
          <a:prstGeom prst="ellipse">
            <a:avLst/>
          </a:prstGeom>
          <a:solidFill>
            <a:srgbClr val="17B2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506163" y="1783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323284" y="2231136"/>
            <a:ext cx="1488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86246" y="1627632"/>
            <a:ext cx="1726387" cy="120700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5" name="Shape 53"/>
          <p:cNvSpPr/>
          <p:nvPr/>
        </p:nvSpPr>
        <p:spPr>
          <a:xfrm>
            <a:off x="6214262" y="1859417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354681" y="18013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163068" y="2251416"/>
            <a:ext cx="1488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→ Counterparty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940650" y="1627632"/>
            <a:ext cx="1726387" cy="120700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8068666" y="1862991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8240448" y="1793417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002829" y="2284808"/>
            <a:ext cx="1488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→ MO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923070" y="1627632"/>
            <a:ext cx="1698828" cy="1164473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9972049" y="1868557"/>
            <a:ext cx="91440" cy="91440"/>
          </a:xfrm>
          <a:prstGeom prst="ellipse">
            <a:avLst/>
          </a:prstGeom>
          <a:solidFill>
            <a:srgbClr val="26B4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10145126" y="1793417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923069" y="2276856"/>
            <a:ext cx="1488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&amp; closed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103120" y="3054096"/>
            <a:ext cx="4709160" cy="749808"/>
          </a:xfrm>
          <a:prstGeom prst="roundRect">
            <a:avLst>
              <a:gd name="adj" fmla="val 12195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304288" y="3246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E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30428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2816352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2816352" y="343814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(&gt;$50M)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816352" y="36027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filter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086600" y="3054096"/>
            <a:ext cx="4709160" cy="749808"/>
          </a:xfrm>
          <a:prstGeom prst="roundRect">
            <a:avLst>
              <a:gd name="adj" fmla="val 12195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7287768" y="3246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28776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7799832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799832" y="343814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Counterparty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7799832" y="36027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filter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210312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Status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3246120" y="3950208"/>
            <a:ext cx="451714" cy="274320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 w="12700">
            <a:solidFill>
              <a:srgbClr val="B9CD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46120" y="3950208"/>
            <a:ext cx="451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807562" y="3950208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3807562" y="395020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confirmation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270602" y="3950208"/>
            <a:ext cx="66385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5270602" y="3950208"/>
            <a:ext cx="663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044184" y="3950208"/>
            <a:ext cx="71689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6044184" y="3950208"/>
            <a:ext cx="71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870802" y="39502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6870802" y="3950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booking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803490" y="3950208"/>
            <a:ext cx="114117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7803490" y="3950208"/>
            <a:ext cx="1141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matches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2103120" y="4443984"/>
            <a:ext cx="1274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Allege ID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103120" y="4681728"/>
            <a:ext cx="127493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2212848" y="4681728"/>
            <a:ext cx="109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msg3535443 or A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3506071" y="4443984"/>
            <a:ext cx="1274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506071" y="4681728"/>
            <a:ext cx="127493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615799" y="4681728"/>
            <a:ext cx="100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561550" y="465429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909022" y="4443984"/>
            <a:ext cx="1274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909022" y="4681728"/>
            <a:ext cx="127493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5018750" y="4681728"/>
            <a:ext cx="100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5964501" y="465429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6311973" y="4443984"/>
            <a:ext cx="1274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311973" y="4681728"/>
            <a:ext cx="127493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6421701" y="4681728"/>
            <a:ext cx="100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367451" y="465429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7714923" y="4443984"/>
            <a:ext cx="1274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7714923" y="4681728"/>
            <a:ext cx="127493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7824651" y="4681728"/>
            <a:ext cx="100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8770402" y="465429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9117874" y="4443984"/>
            <a:ext cx="1274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9117874" y="4681728"/>
            <a:ext cx="127493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9227602" y="4681728"/>
            <a:ext cx="100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10173353" y="465429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10520825" y="4443984"/>
            <a:ext cx="1274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Allege Reason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10520825" y="4681728"/>
            <a:ext cx="127493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10630553" y="4681728"/>
            <a:ext cx="100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11576304" y="465429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2103120" y="5248656"/>
            <a:ext cx="45720" cy="182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2231136" y="52303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band = priority counterparty (set by your manager)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2103120" y="5541264"/>
            <a:ext cx="9656064" cy="4114800"/>
          </a:xfrm>
          <a:prstGeom prst="roundRect">
            <a:avLst>
              <a:gd name="adj" fmla="val 2222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2157984" y="5586984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Allege ID  ↕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3163824" y="5586984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 ↕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4069080" y="5586984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  ↕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5084064" y="5586984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date  ↕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5815584" y="55869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bucket  ↕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6345936" y="5586984"/>
            <a:ext cx="585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elapsed  ↕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7004304" y="5586984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status  ↕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7872984" y="5586984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Email Classification Confidence  ↕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8924544" y="5586984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 ↕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9528048" y="5586984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↕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10396728" y="5586984"/>
            <a:ext cx="70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 ↕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11173968" y="5586984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2157984" y="5998464"/>
            <a:ext cx="9546336" cy="10973"/>
          </a:xfrm>
          <a:prstGeom prst="rect">
            <a:avLst/>
          </a:prstGeom>
          <a:solidFill>
            <a:srgbClr val="E4E4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121408" y="6025896"/>
            <a:ext cx="9619488" cy="402336"/>
          </a:xfrm>
          <a:prstGeom prst="rect">
            <a:avLst/>
          </a:prstGeom>
          <a:solidFill>
            <a:srgbClr val="FBF1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Shape 133"/>
          <p:cNvSpPr/>
          <p:nvPr/>
        </p:nvSpPr>
        <p:spPr>
          <a:xfrm>
            <a:off x="2121408" y="6025896"/>
            <a:ext cx="45720" cy="40233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2157984" y="59984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ALG-2026-0414-017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3163824" y="59984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4069080" y="59984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95,000,000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5084064" y="59984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14-Apr-2026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5846674" y="6117336"/>
            <a:ext cx="358445" cy="219456"/>
          </a:xfrm>
          <a:prstGeom prst="roundRect">
            <a:avLst>
              <a:gd name="adj" fmla="val 50000"/>
            </a:avLst>
          </a:prstGeom>
          <a:ln w="9525">
            <a:solidFill>
              <a:srgbClr val="D23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Text 139"/>
          <p:cNvSpPr/>
          <p:nvPr/>
        </p:nvSpPr>
        <p:spPr>
          <a:xfrm>
            <a:off x="5846674" y="6117336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T+2+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6345936" y="59984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23h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7028993" y="6117336"/>
            <a:ext cx="709574" cy="219456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7028993" y="6117336"/>
            <a:ext cx="709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(1)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7818120" y="59984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8992210" y="6117336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8992210" y="6117336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9618574" y="6117336"/>
            <a:ext cx="577901" cy="219456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9618574" y="6117336"/>
            <a:ext cx="5779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10396728" y="59984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Ginny Weasley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11281867" y="6117336"/>
            <a:ext cx="314554" cy="219456"/>
          </a:xfrm>
          <a:prstGeom prst="roundRect">
            <a:avLst>
              <a:gd name="adj" fmla="val 50000"/>
            </a:avLst>
          </a:prstGeom>
          <a:solidFill>
            <a:srgbClr val="EAE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2" name="Text 150"/>
          <p:cNvSpPr/>
          <p:nvPr/>
        </p:nvSpPr>
        <p:spPr>
          <a:xfrm>
            <a:off x="11281867" y="6117336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2157984" y="6455664"/>
            <a:ext cx="9546336" cy="9144"/>
          </a:xfrm>
          <a:prstGeom prst="rect">
            <a:avLst/>
          </a:prstGeom>
          <a:solidFill>
            <a:srgbClr val="F0F0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4" name="Text 152"/>
          <p:cNvSpPr/>
          <p:nvPr/>
        </p:nvSpPr>
        <p:spPr>
          <a:xfrm>
            <a:off x="2157984" y="64556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ALG-2026-0414-013</a:t>
            </a:r>
            <a:endParaRPr lang="en-US" sz="800" dirty="0"/>
          </a:p>
        </p:txBody>
      </p:sp>
      <p:sp>
        <p:nvSpPr>
          <p:cNvPr id="155" name="Text 153"/>
          <p:cNvSpPr/>
          <p:nvPr/>
        </p:nvSpPr>
        <p:spPr>
          <a:xfrm>
            <a:off x="3163824" y="64556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Bank plc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4069080" y="64556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5,000,000</a:t>
            </a:r>
            <a:endParaRPr lang="en-US" sz="800" dirty="0"/>
          </a:p>
        </p:txBody>
      </p:sp>
      <p:sp>
        <p:nvSpPr>
          <p:cNvPr id="157" name="Text 155"/>
          <p:cNvSpPr/>
          <p:nvPr/>
        </p:nvSpPr>
        <p:spPr>
          <a:xfrm>
            <a:off x="5084064" y="64556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14-Apr-2026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5846674" y="6574536"/>
            <a:ext cx="358445" cy="219456"/>
          </a:xfrm>
          <a:prstGeom prst="roundRect">
            <a:avLst>
              <a:gd name="adj" fmla="val 50000"/>
            </a:avLst>
          </a:prstGeom>
          <a:ln w="9525">
            <a:solidFill>
              <a:srgbClr val="D23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9" name="Text 157"/>
          <p:cNvSpPr/>
          <p:nvPr/>
        </p:nvSpPr>
        <p:spPr>
          <a:xfrm>
            <a:off x="5846674" y="6574536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T+2+</a:t>
            </a:r>
            <a:endParaRPr lang="en-US" sz="700" dirty="0"/>
          </a:p>
        </p:txBody>
      </p:sp>
      <p:sp>
        <p:nvSpPr>
          <p:cNvPr id="160" name="Text 158"/>
          <p:cNvSpPr/>
          <p:nvPr/>
        </p:nvSpPr>
        <p:spPr>
          <a:xfrm>
            <a:off x="6345936" y="64556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15h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7138721" y="6574536"/>
            <a:ext cx="490118" cy="219456"/>
          </a:xfrm>
          <a:prstGeom prst="roundRect">
            <a:avLst>
              <a:gd name="adj" fmla="val 50000"/>
            </a:avLst>
          </a:prstGeom>
          <a:solidFill>
            <a:srgbClr val="D8F0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7138721" y="6574536"/>
            <a:ext cx="4901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E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7818120" y="64556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9014155" y="6574536"/>
            <a:ext cx="314554" cy="219456"/>
          </a:xfrm>
          <a:prstGeom prst="roundRect">
            <a:avLst>
              <a:gd name="adj" fmla="val 50000"/>
            </a:avLst>
          </a:prstGeom>
          <a:solidFill>
            <a:srgbClr val="D8F0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Text 163"/>
          <p:cNvSpPr/>
          <p:nvPr/>
        </p:nvSpPr>
        <p:spPr>
          <a:xfrm>
            <a:off x="9014155" y="6574536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E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9640519" y="6574536"/>
            <a:ext cx="534010" cy="219456"/>
          </a:xfrm>
          <a:prstGeom prst="roundRect">
            <a:avLst>
              <a:gd name="adj" fmla="val 50000"/>
            </a:avLst>
          </a:prstGeom>
          <a:solidFill>
            <a:srgbClr val="D8F0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7" name="Text 165"/>
          <p:cNvSpPr/>
          <p:nvPr/>
        </p:nvSpPr>
        <p:spPr>
          <a:xfrm>
            <a:off x="9640519" y="6574536"/>
            <a:ext cx="534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E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10396728" y="64556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Ginny Weasley</a:t>
            </a:r>
            <a:endParaRPr lang="en-US" sz="800" dirty="0"/>
          </a:p>
        </p:txBody>
      </p:sp>
      <p:sp>
        <p:nvSpPr>
          <p:cNvPr id="169" name="Text 167"/>
          <p:cNvSpPr/>
          <p:nvPr/>
        </p:nvSpPr>
        <p:spPr>
          <a:xfrm>
            <a:off x="11119104" y="64556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2121408" y="6940296"/>
            <a:ext cx="9619488" cy="402336"/>
          </a:xfrm>
          <a:prstGeom prst="rect">
            <a:avLst/>
          </a:prstGeom>
          <a:solidFill>
            <a:srgbClr val="FBF1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1" name="Shape 169"/>
          <p:cNvSpPr/>
          <p:nvPr/>
        </p:nvSpPr>
        <p:spPr>
          <a:xfrm>
            <a:off x="2121408" y="6940296"/>
            <a:ext cx="45720" cy="40233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2" name="Shape 170"/>
          <p:cNvSpPr/>
          <p:nvPr/>
        </p:nvSpPr>
        <p:spPr>
          <a:xfrm>
            <a:off x="2157984" y="6912864"/>
            <a:ext cx="9546336" cy="9144"/>
          </a:xfrm>
          <a:prstGeom prst="rect">
            <a:avLst/>
          </a:prstGeom>
          <a:solidFill>
            <a:srgbClr val="F0F0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3" name="Text 171"/>
          <p:cNvSpPr/>
          <p:nvPr/>
        </p:nvSpPr>
        <p:spPr>
          <a:xfrm>
            <a:off x="2157984" y="6912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ALG-2026-0414-010</a:t>
            </a:r>
            <a:endParaRPr lang="en-US" sz="800" dirty="0"/>
          </a:p>
        </p:txBody>
      </p:sp>
      <p:sp>
        <p:nvSpPr>
          <p:cNvPr id="174" name="Text 172"/>
          <p:cNvSpPr/>
          <p:nvPr/>
        </p:nvSpPr>
        <p:spPr>
          <a:xfrm>
            <a:off x="3163824" y="69128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 In…</a:t>
            </a:r>
            <a:endParaRPr lang="en-US" sz="800" dirty="0"/>
          </a:p>
        </p:txBody>
      </p:sp>
      <p:sp>
        <p:nvSpPr>
          <p:cNvPr id="175" name="Text 173"/>
          <p:cNvSpPr/>
          <p:nvPr/>
        </p:nvSpPr>
        <p:spPr>
          <a:xfrm>
            <a:off x="4069080" y="69128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45,000,000</a:t>
            </a:r>
            <a:endParaRPr lang="en-US" sz="800" dirty="0"/>
          </a:p>
        </p:txBody>
      </p:sp>
      <p:sp>
        <p:nvSpPr>
          <p:cNvPr id="176" name="Text 174"/>
          <p:cNvSpPr/>
          <p:nvPr/>
        </p:nvSpPr>
        <p:spPr>
          <a:xfrm>
            <a:off x="5084064" y="69128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17-Apr-2026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5846674" y="7031736"/>
            <a:ext cx="358445" cy="219456"/>
          </a:xfrm>
          <a:prstGeom prst="roundRect">
            <a:avLst>
              <a:gd name="adj" fmla="val 50000"/>
            </a:avLst>
          </a:prstGeom>
          <a:ln w="9525">
            <a:solidFill>
              <a:srgbClr val="D23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8" name="Text 176"/>
          <p:cNvSpPr/>
          <p:nvPr/>
        </p:nvSpPr>
        <p:spPr>
          <a:xfrm>
            <a:off x="5846674" y="7031736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T+2+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6345936" y="69128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21h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7028993" y="7031736"/>
            <a:ext cx="709574" cy="219456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1" name="Text 179"/>
          <p:cNvSpPr/>
          <p:nvPr/>
        </p:nvSpPr>
        <p:spPr>
          <a:xfrm>
            <a:off x="7028993" y="7031736"/>
            <a:ext cx="709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(1)</a:t>
            </a:r>
            <a:endParaRPr lang="en-US" sz="700" dirty="0"/>
          </a:p>
        </p:txBody>
      </p:sp>
      <p:sp>
        <p:nvSpPr>
          <p:cNvPr id="182" name="Text 180"/>
          <p:cNvSpPr/>
          <p:nvPr/>
        </p:nvSpPr>
        <p:spPr>
          <a:xfrm>
            <a:off x="7818120" y="69128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8948318" y="7031736"/>
            <a:ext cx="446227" cy="219456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4" name="Text 182"/>
          <p:cNvSpPr/>
          <p:nvPr/>
        </p:nvSpPr>
        <p:spPr>
          <a:xfrm>
            <a:off x="8948318" y="7031736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9574682" y="7031736"/>
            <a:ext cx="665683" cy="219456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6" name="Text 184"/>
          <p:cNvSpPr/>
          <p:nvPr/>
        </p:nvSpPr>
        <p:spPr>
          <a:xfrm>
            <a:off x="9574682" y="7031736"/>
            <a:ext cx="665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87" name="Text 185"/>
          <p:cNvSpPr/>
          <p:nvPr/>
        </p:nvSpPr>
        <p:spPr>
          <a:xfrm>
            <a:off x="10396728" y="69128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Ginny Weasley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11281867" y="7031736"/>
            <a:ext cx="314554" cy="219456"/>
          </a:xfrm>
          <a:prstGeom prst="roundRect">
            <a:avLst>
              <a:gd name="adj" fmla="val 50000"/>
            </a:avLst>
          </a:prstGeom>
          <a:solidFill>
            <a:srgbClr val="EAE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9" name="Text 187"/>
          <p:cNvSpPr/>
          <p:nvPr/>
        </p:nvSpPr>
        <p:spPr>
          <a:xfrm>
            <a:off x="11281867" y="7031736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2157984" y="7370064"/>
            <a:ext cx="9546336" cy="9144"/>
          </a:xfrm>
          <a:prstGeom prst="rect">
            <a:avLst/>
          </a:prstGeom>
          <a:solidFill>
            <a:srgbClr val="F0F0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1" name="Text 189"/>
          <p:cNvSpPr/>
          <p:nvPr/>
        </p:nvSpPr>
        <p:spPr>
          <a:xfrm>
            <a:off x="2157984" y="73700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ALG-2026-0414-002</a:t>
            </a:r>
            <a:endParaRPr lang="en-US" sz="800" dirty="0"/>
          </a:p>
        </p:txBody>
      </p:sp>
      <p:sp>
        <p:nvSpPr>
          <p:cNvPr id="192" name="Text 190"/>
          <p:cNvSpPr/>
          <p:nvPr/>
        </p:nvSpPr>
        <p:spPr>
          <a:xfrm>
            <a:off x="3163824" y="73700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</a:t>
            </a:r>
            <a:endParaRPr lang="en-US" sz="800" dirty="0"/>
          </a:p>
        </p:txBody>
      </p:sp>
      <p:sp>
        <p:nvSpPr>
          <p:cNvPr id="193" name="Text 191"/>
          <p:cNvSpPr/>
          <p:nvPr/>
        </p:nvSpPr>
        <p:spPr>
          <a:xfrm>
            <a:off x="4069080" y="73700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75,000,000</a:t>
            </a:r>
            <a:endParaRPr lang="en-US" sz="800" dirty="0"/>
          </a:p>
        </p:txBody>
      </p:sp>
      <p:sp>
        <p:nvSpPr>
          <p:cNvPr id="194" name="Text 192"/>
          <p:cNvSpPr/>
          <p:nvPr/>
        </p:nvSpPr>
        <p:spPr>
          <a:xfrm>
            <a:off x="5084064" y="73700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14-Apr-2026</a:t>
            </a:r>
            <a:endParaRPr lang="en-US" sz="800" dirty="0"/>
          </a:p>
        </p:txBody>
      </p:sp>
      <p:sp>
        <p:nvSpPr>
          <p:cNvPr id="195" name="Shape 193"/>
          <p:cNvSpPr/>
          <p:nvPr/>
        </p:nvSpPr>
        <p:spPr>
          <a:xfrm>
            <a:off x="5868619" y="7488936"/>
            <a:ext cx="314554" cy="219456"/>
          </a:xfrm>
          <a:prstGeom prst="roundRect">
            <a:avLst>
              <a:gd name="adj" fmla="val 50000"/>
            </a:avLst>
          </a:prstGeom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6" name="Text 194"/>
          <p:cNvSpPr/>
          <p:nvPr/>
        </p:nvSpPr>
        <p:spPr>
          <a:xfrm>
            <a:off x="5868619" y="7488936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</a:t>
            </a:r>
            <a:endParaRPr lang="en-US" sz="700" dirty="0"/>
          </a:p>
        </p:txBody>
      </p:sp>
      <p:sp>
        <p:nvSpPr>
          <p:cNvPr id="197" name="Text 195"/>
          <p:cNvSpPr/>
          <p:nvPr/>
        </p:nvSpPr>
        <p:spPr>
          <a:xfrm>
            <a:off x="6345936" y="73700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2h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7028993" y="7488936"/>
            <a:ext cx="709574" cy="219456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9" name="Text 197"/>
          <p:cNvSpPr/>
          <p:nvPr/>
        </p:nvSpPr>
        <p:spPr>
          <a:xfrm>
            <a:off x="7028993" y="7488936"/>
            <a:ext cx="709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 no booking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7818120" y="73700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8992210" y="7488936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2" name="Text 200"/>
          <p:cNvSpPr/>
          <p:nvPr/>
        </p:nvSpPr>
        <p:spPr>
          <a:xfrm>
            <a:off x="8992210" y="7488936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9618574" y="7488936"/>
            <a:ext cx="577901" cy="219456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Text 202"/>
          <p:cNvSpPr/>
          <p:nvPr/>
        </p:nvSpPr>
        <p:spPr>
          <a:xfrm>
            <a:off x="9618574" y="7488936"/>
            <a:ext cx="5779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700" dirty="0"/>
          </a:p>
        </p:txBody>
      </p:sp>
      <p:sp>
        <p:nvSpPr>
          <p:cNvPr id="205" name="Text 203"/>
          <p:cNvSpPr/>
          <p:nvPr/>
        </p:nvSpPr>
        <p:spPr>
          <a:xfrm>
            <a:off x="10396728" y="73700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Ginny Weasley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11281867" y="7488936"/>
            <a:ext cx="314554" cy="219456"/>
          </a:xfrm>
          <a:prstGeom prst="roundRect">
            <a:avLst>
              <a:gd name="adj" fmla="val 50000"/>
            </a:avLst>
          </a:prstGeom>
          <a:solidFill>
            <a:srgbClr val="EAE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7" name="Text 205"/>
          <p:cNvSpPr/>
          <p:nvPr/>
        </p:nvSpPr>
        <p:spPr>
          <a:xfrm>
            <a:off x="11281867" y="7488936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</a:t>
            </a:r>
            <a:endParaRPr lang="en-US" sz="700" dirty="0"/>
          </a:p>
        </p:txBody>
      </p:sp>
      <p:sp>
        <p:nvSpPr>
          <p:cNvPr id="208" name="Shape 206"/>
          <p:cNvSpPr/>
          <p:nvPr/>
        </p:nvSpPr>
        <p:spPr>
          <a:xfrm>
            <a:off x="2157984" y="7827264"/>
            <a:ext cx="9546336" cy="9144"/>
          </a:xfrm>
          <a:prstGeom prst="rect">
            <a:avLst/>
          </a:prstGeom>
          <a:solidFill>
            <a:srgbClr val="F0F0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9" name="Text 207"/>
          <p:cNvSpPr/>
          <p:nvPr/>
        </p:nvSpPr>
        <p:spPr>
          <a:xfrm>
            <a:off x="2157984" y="78272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ALG-2026-0414-005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3163824" y="78272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Citigroup Global…</a:t>
            </a:r>
            <a:endParaRPr lang="en-US" sz="800" dirty="0"/>
          </a:p>
        </p:txBody>
      </p:sp>
      <p:sp>
        <p:nvSpPr>
          <p:cNvPr id="211" name="Text 209"/>
          <p:cNvSpPr/>
          <p:nvPr/>
        </p:nvSpPr>
        <p:spPr>
          <a:xfrm>
            <a:off x="4069080" y="78272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30,000,000</a:t>
            </a:r>
            <a:endParaRPr lang="en-US" sz="800" dirty="0"/>
          </a:p>
        </p:txBody>
      </p:sp>
      <p:sp>
        <p:nvSpPr>
          <p:cNvPr id="212" name="Text 210"/>
          <p:cNvSpPr/>
          <p:nvPr/>
        </p:nvSpPr>
        <p:spPr>
          <a:xfrm>
            <a:off x="5084064" y="78272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14-Apr-2026</a:t>
            </a:r>
            <a:endParaRPr lang="en-US" sz="800" dirty="0"/>
          </a:p>
        </p:txBody>
      </p:sp>
      <p:sp>
        <p:nvSpPr>
          <p:cNvPr id="213" name="Shape 211"/>
          <p:cNvSpPr/>
          <p:nvPr/>
        </p:nvSpPr>
        <p:spPr>
          <a:xfrm>
            <a:off x="5868619" y="7946136"/>
            <a:ext cx="314554" cy="219456"/>
          </a:xfrm>
          <a:prstGeom prst="roundRect">
            <a:avLst>
              <a:gd name="adj" fmla="val 50000"/>
            </a:avLst>
          </a:prstGeom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4" name="Text 212"/>
          <p:cNvSpPr/>
          <p:nvPr/>
        </p:nvSpPr>
        <p:spPr>
          <a:xfrm>
            <a:off x="5868619" y="7946136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</a:t>
            </a:r>
            <a:endParaRPr lang="en-US" sz="700" dirty="0"/>
          </a:p>
        </p:txBody>
      </p:sp>
      <p:sp>
        <p:nvSpPr>
          <p:cNvPr id="215" name="Text 213"/>
          <p:cNvSpPr/>
          <p:nvPr/>
        </p:nvSpPr>
        <p:spPr>
          <a:xfrm>
            <a:off x="6345936" y="78272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1h</a:t>
            </a:r>
            <a:endParaRPr lang="en-US" sz="800" dirty="0"/>
          </a:p>
        </p:txBody>
      </p:sp>
      <p:sp>
        <p:nvSpPr>
          <p:cNvPr id="216" name="Shape 214"/>
          <p:cNvSpPr/>
          <p:nvPr/>
        </p:nvSpPr>
        <p:spPr>
          <a:xfrm>
            <a:off x="7028993" y="7946136"/>
            <a:ext cx="709574" cy="219456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7" name="Text 215"/>
          <p:cNvSpPr/>
          <p:nvPr/>
        </p:nvSpPr>
        <p:spPr>
          <a:xfrm>
            <a:off x="7028993" y="7946136"/>
            <a:ext cx="709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(1)</a:t>
            </a:r>
            <a:endParaRPr lang="en-US" sz="700" dirty="0"/>
          </a:p>
        </p:txBody>
      </p:sp>
      <p:sp>
        <p:nvSpPr>
          <p:cNvPr id="218" name="Shape 216"/>
          <p:cNvSpPr/>
          <p:nvPr/>
        </p:nvSpPr>
        <p:spPr>
          <a:xfrm>
            <a:off x="7836408" y="7946136"/>
            <a:ext cx="1014984" cy="219456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9" name="Text 217"/>
          <p:cNvSpPr/>
          <p:nvPr/>
        </p:nvSpPr>
        <p:spPr>
          <a:xfrm>
            <a:off x="7836408" y="7946136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classification</a:t>
            </a:r>
            <a:endParaRPr lang="en-US" sz="700" dirty="0"/>
          </a:p>
        </p:txBody>
      </p:sp>
      <p:sp>
        <p:nvSpPr>
          <p:cNvPr id="220" name="Shape 218"/>
          <p:cNvSpPr/>
          <p:nvPr/>
        </p:nvSpPr>
        <p:spPr>
          <a:xfrm>
            <a:off x="8992210" y="7946136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1" name="Text 219"/>
          <p:cNvSpPr/>
          <p:nvPr/>
        </p:nvSpPr>
        <p:spPr>
          <a:xfrm>
            <a:off x="8992210" y="7946136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22" name="Shape 220"/>
          <p:cNvSpPr/>
          <p:nvPr/>
        </p:nvSpPr>
        <p:spPr>
          <a:xfrm>
            <a:off x="9618574" y="7946136"/>
            <a:ext cx="577901" cy="219456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3" name="Text 221"/>
          <p:cNvSpPr/>
          <p:nvPr/>
        </p:nvSpPr>
        <p:spPr>
          <a:xfrm>
            <a:off x="9618574" y="7946136"/>
            <a:ext cx="5779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700" dirty="0"/>
          </a:p>
        </p:txBody>
      </p:sp>
      <p:sp>
        <p:nvSpPr>
          <p:cNvPr id="224" name="Text 222"/>
          <p:cNvSpPr/>
          <p:nvPr/>
        </p:nvSpPr>
        <p:spPr>
          <a:xfrm>
            <a:off x="10396728" y="78272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Ginny Weasley</a:t>
            </a:r>
            <a:endParaRPr lang="en-US" sz="800" dirty="0"/>
          </a:p>
        </p:txBody>
      </p:sp>
      <p:sp>
        <p:nvSpPr>
          <p:cNvPr id="225" name="Shape 223"/>
          <p:cNvSpPr/>
          <p:nvPr/>
        </p:nvSpPr>
        <p:spPr>
          <a:xfrm>
            <a:off x="11281867" y="7946136"/>
            <a:ext cx="314554" cy="219456"/>
          </a:xfrm>
          <a:prstGeom prst="roundRect">
            <a:avLst>
              <a:gd name="adj" fmla="val 50000"/>
            </a:avLst>
          </a:prstGeom>
          <a:solidFill>
            <a:srgbClr val="EAE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6" name="Text 224"/>
          <p:cNvSpPr/>
          <p:nvPr/>
        </p:nvSpPr>
        <p:spPr>
          <a:xfrm>
            <a:off x="11281867" y="7946136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</a:t>
            </a:r>
            <a:endParaRPr lang="en-US" sz="700" dirty="0"/>
          </a:p>
        </p:txBody>
      </p:sp>
      <p:sp>
        <p:nvSpPr>
          <p:cNvPr id="227" name="Shape 225"/>
          <p:cNvSpPr/>
          <p:nvPr/>
        </p:nvSpPr>
        <p:spPr>
          <a:xfrm>
            <a:off x="2157984" y="8284464"/>
            <a:ext cx="9546336" cy="9144"/>
          </a:xfrm>
          <a:prstGeom prst="rect">
            <a:avLst/>
          </a:prstGeom>
          <a:solidFill>
            <a:srgbClr val="F0F0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8" name="Text 226"/>
          <p:cNvSpPr/>
          <p:nvPr/>
        </p:nvSpPr>
        <p:spPr>
          <a:xfrm>
            <a:off x="2157984" y="82844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ALG-2026-0414-003</a:t>
            </a:r>
            <a:endParaRPr lang="en-US" sz="800" dirty="0"/>
          </a:p>
        </p:txBody>
      </p:sp>
      <p:sp>
        <p:nvSpPr>
          <p:cNvPr id="229" name="Text 227"/>
          <p:cNvSpPr/>
          <p:nvPr/>
        </p:nvSpPr>
        <p:spPr>
          <a:xfrm>
            <a:off x="3163824" y="82844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Deutsche Bank AG</a:t>
            </a:r>
            <a:endParaRPr lang="en-US" sz="800" dirty="0"/>
          </a:p>
        </p:txBody>
      </p:sp>
      <p:sp>
        <p:nvSpPr>
          <p:cNvPr id="230" name="Text 228"/>
          <p:cNvSpPr/>
          <p:nvPr/>
        </p:nvSpPr>
        <p:spPr>
          <a:xfrm>
            <a:off x="4069080" y="82844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120,000,000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5084064" y="82844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15-Apr-2026</a:t>
            </a:r>
            <a:endParaRPr lang="en-US" sz="800" dirty="0"/>
          </a:p>
        </p:txBody>
      </p:sp>
      <p:sp>
        <p:nvSpPr>
          <p:cNvPr id="232" name="Shape 230"/>
          <p:cNvSpPr/>
          <p:nvPr/>
        </p:nvSpPr>
        <p:spPr>
          <a:xfrm>
            <a:off x="5868619" y="8403336"/>
            <a:ext cx="314554" cy="219456"/>
          </a:xfrm>
          <a:prstGeom prst="roundRect">
            <a:avLst>
              <a:gd name="adj" fmla="val 50000"/>
            </a:avLst>
          </a:prstGeom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3" name="Text 231"/>
          <p:cNvSpPr/>
          <p:nvPr/>
        </p:nvSpPr>
        <p:spPr>
          <a:xfrm>
            <a:off x="5868619" y="8403336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700" dirty="0"/>
          </a:p>
        </p:txBody>
      </p:sp>
      <p:sp>
        <p:nvSpPr>
          <p:cNvPr id="234" name="Text 232"/>
          <p:cNvSpPr/>
          <p:nvPr/>
        </p:nvSpPr>
        <p:spPr>
          <a:xfrm>
            <a:off x="6345936" y="82844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1h</a:t>
            </a:r>
            <a:endParaRPr lang="en-US" sz="800" dirty="0"/>
          </a:p>
        </p:txBody>
      </p:sp>
      <p:sp>
        <p:nvSpPr>
          <p:cNvPr id="235" name="Shape 233"/>
          <p:cNvSpPr/>
          <p:nvPr/>
        </p:nvSpPr>
        <p:spPr>
          <a:xfrm>
            <a:off x="7028993" y="8403336"/>
            <a:ext cx="709574" cy="219456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6" name="Text 234"/>
          <p:cNvSpPr/>
          <p:nvPr/>
        </p:nvSpPr>
        <p:spPr>
          <a:xfrm>
            <a:off x="7028993" y="8403336"/>
            <a:ext cx="709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(2)</a:t>
            </a:r>
            <a:endParaRPr lang="en-US" sz="700" dirty="0"/>
          </a:p>
        </p:txBody>
      </p:sp>
      <p:sp>
        <p:nvSpPr>
          <p:cNvPr id="237" name="Shape 235"/>
          <p:cNvSpPr/>
          <p:nvPr/>
        </p:nvSpPr>
        <p:spPr>
          <a:xfrm>
            <a:off x="7836408" y="8403336"/>
            <a:ext cx="1014984" cy="219456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8" name="Text 236"/>
          <p:cNvSpPr/>
          <p:nvPr/>
        </p:nvSpPr>
        <p:spPr>
          <a:xfrm>
            <a:off x="7836408" y="8403336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classification</a:t>
            </a:r>
            <a:endParaRPr lang="en-US" sz="700" dirty="0"/>
          </a:p>
        </p:txBody>
      </p:sp>
      <p:sp>
        <p:nvSpPr>
          <p:cNvPr id="239" name="Shape 237"/>
          <p:cNvSpPr/>
          <p:nvPr/>
        </p:nvSpPr>
        <p:spPr>
          <a:xfrm>
            <a:off x="8992210" y="8403336"/>
            <a:ext cx="358445" cy="219456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0" name="Text 238"/>
          <p:cNvSpPr/>
          <p:nvPr/>
        </p:nvSpPr>
        <p:spPr>
          <a:xfrm>
            <a:off x="8992210" y="8403336"/>
            <a:ext cx="3584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1" name="Shape 239"/>
          <p:cNvSpPr/>
          <p:nvPr/>
        </p:nvSpPr>
        <p:spPr>
          <a:xfrm>
            <a:off x="9618574" y="8403336"/>
            <a:ext cx="577901" cy="219456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2" name="Text 240"/>
          <p:cNvSpPr/>
          <p:nvPr/>
        </p:nvSpPr>
        <p:spPr>
          <a:xfrm>
            <a:off x="9618574" y="8403336"/>
            <a:ext cx="5779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700" dirty="0"/>
          </a:p>
        </p:txBody>
      </p:sp>
      <p:sp>
        <p:nvSpPr>
          <p:cNvPr id="243" name="Text 241"/>
          <p:cNvSpPr/>
          <p:nvPr/>
        </p:nvSpPr>
        <p:spPr>
          <a:xfrm>
            <a:off x="10396728" y="82844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Ginny Weasley</a:t>
            </a:r>
            <a:endParaRPr lang="en-US" sz="800" dirty="0"/>
          </a:p>
        </p:txBody>
      </p:sp>
      <p:sp>
        <p:nvSpPr>
          <p:cNvPr id="244" name="Shape 242"/>
          <p:cNvSpPr/>
          <p:nvPr/>
        </p:nvSpPr>
        <p:spPr>
          <a:xfrm>
            <a:off x="11150194" y="8403336"/>
            <a:ext cx="577901" cy="219456"/>
          </a:xfrm>
          <a:prstGeom prst="roundRect">
            <a:avLst>
              <a:gd name="adj" fmla="val 50000"/>
            </a:avLst>
          </a:prstGeom>
          <a:solidFill>
            <a:srgbClr val="FB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5" name="Text 243"/>
          <p:cNvSpPr/>
          <p:nvPr/>
        </p:nvSpPr>
        <p:spPr>
          <a:xfrm>
            <a:off x="11150194" y="8403336"/>
            <a:ext cx="5779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700" dirty="0"/>
          </a:p>
        </p:txBody>
      </p:sp>
      <p:sp>
        <p:nvSpPr>
          <p:cNvPr id="246" name="Shape 244"/>
          <p:cNvSpPr/>
          <p:nvPr/>
        </p:nvSpPr>
        <p:spPr>
          <a:xfrm>
            <a:off x="2157984" y="8741664"/>
            <a:ext cx="9546336" cy="9144"/>
          </a:xfrm>
          <a:prstGeom prst="rect">
            <a:avLst/>
          </a:prstGeom>
          <a:solidFill>
            <a:srgbClr val="F0F0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7" name="Text 245"/>
          <p:cNvSpPr/>
          <p:nvPr/>
        </p:nvSpPr>
        <p:spPr>
          <a:xfrm>
            <a:off x="2157984" y="87416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ALG-2026-0414-020</a:t>
            </a:r>
            <a:endParaRPr lang="en-US" sz="800" dirty="0"/>
          </a:p>
        </p:txBody>
      </p:sp>
      <p:sp>
        <p:nvSpPr>
          <p:cNvPr id="248" name="Text 246"/>
          <p:cNvSpPr/>
          <p:nvPr/>
        </p:nvSpPr>
        <p:spPr>
          <a:xfrm>
            <a:off x="3163824" y="87416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UBS AG</a:t>
            </a:r>
            <a:endParaRPr lang="en-US" sz="800" dirty="0"/>
          </a:p>
        </p:txBody>
      </p:sp>
      <p:sp>
        <p:nvSpPr>
          <p:cNvPr id="249" name="Text 247"/>
          <p:cNvSpPr/>
          <p:nvPr/>
        </p:nvSpPr>
        <p:spPr>
          <a:xfrm>
            <a:off x="4069080" y="87416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40,000,000</a:t>
            </a:r>
            <a:endParaRPr lang="en-US" sz="800" dirty="0"/>
          </a:p>
        </p:txBody>
      </p:sp>
      <p:sp>
        <p:nvSpPr>
          <p:cNvPr id="250" name="Text 248"/>
          <p:cNvSpPr/>
          <p:nvPr/>
        </p:nvSpPr>
        <p:spPr>
          <a:xfrm>
            <a:off x="5084064" y="87416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16-Apr-2026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5868619" y="8860536"/>
            <a:ext cx="314554" cy="219456"/>
          </a:xfrm>
          <a:prstGeom prst="roundRect">
            <a:avLst>
              <a:gd name="adj" fmla="val 50000"/>
            </a:avLst>
          </a:prstGeom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2" name="Text 250"/>
          <p:cNvSpPr/>
          <p:nvPr/>
        </p:nvSpPr>
        <p:spPr>
          <a:xfrm>
            <a:off x="5868619" y="8860536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700" dirty="0"/>
          </a:p>
        </p:txBody>
      </p:sp>
      <p:sp>
        <p:nvSpPr>
          <p:cNvPr id="253" name="Text 251"/>
          <p:cNvSpPr/>
          <p:nvPr/>
        </p:nvSpPr>
        <p:spPr>
          <a:xfrm>
            <a:off x="6345936" y="87416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23h 30m</a:t>
            </a:r>
            <a:endParaRPr lang="en-US" sz="800" dirty="0"/>
          </a:p>
        </p:txBody>
      </p:sp>
      <p:sp>
        <p:nvSpPr>
          <p:cNvPr id="254" name="Text 252"/>
          <p:cNvSpPr/>
          <p:nvPr/>
        </p:nvSpPr>
        <p:spPr>
          <a:xfrm>
            <a:off x="6949440" y="87416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pending</a:t>
            </a:r>
            <a:endParaRPr lang="en-US" sz="750" dirty="0"/>
          </a:p>
        </p:txBody>
      </p:sp>
      <p:sp>
        <p:nvSpPr>
          <p:cNvPr id="255" name="Text 253"/>
          <p:cNvSpPr/>
          <p:nvPr/>
        </p:nvSpPr>
        <p:spPr>
          <a:xfrm>
            <a:off x="7818120" y="87416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256" name="Shape 254"/>
          <p:cNvSpPr/>
          <p:nvPr/>
        </p:nvSpPr>
        <p:spPr>
          <a:xfrm>
            <a:off x="8948318" y="8860536"/>
            <a:ext cx="446227" cy="219456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7" name="Text 255"/>
          <p:cNvSpPr/>
          <p:nvPr/>
        </p:nvSpPr>
        <p:spPr>
          <a:xfrm>
            <a:off x="8948318" y="8860536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258" name="Shape 256"/>
          <p:cNvSpPr/>
          <p:nvPr/>
        </p:nvSpPr>
        <p:spPr>
          <a:xfrm>
            <a:off x="9491472" y="8860536"/>
            <a:ext cx="832104" cy="219456"/>
          </a:xfrm>
          <a:prstGeom prst="roundRect">
            <a:avLst>
              <a:gd name="adj" fmla="val 50000"/>
            </a:avLst>
          </a:prstGeom>
          <a:solidFill>
            <a:srgbClr val="F7EF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9" name="Text 257"/>
          <p:cNvSpPr/>
          <p:nvPr/>
        </p:nvSpPr>
        <p:spPr>
          <a:xfrm>
            <a:off x="9491472" y="8860536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A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Confirmation</a:t>
            </a:r>
            <a:endParaRPr lang="en-US" sz="700" dirty="0"/>
          </a:p>
        </p:txBody>
      </p:sp>
      <p:sp>
        <p:nvSpPr>
          <p:cNvPr id="260" name="Text 258"/>
          <p:cNvSpPr/>
          <p:nvPr/>
        </p:nvSpPr>
        <p:spPr>
          <a:xfrm>
            <a:off x="10396728" y="87416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Ginny Weasley</a:t>
            </a:r>
            <a:endParaRPr lang="en-US" sz="800" dirty="0"/>
          </a:p>
        </p:txBody>
      </p:sp>
      <p:sp>
        <p:nvSpPr>
          <p:cNvPr id="261" name="Text 259"/>
          <p:cNvSpPr/>
          <p:nvPr/>
        </p:nvSpPr>
        <p:spPr>
          <a:xfrm>
            <a:off x="11119104" y="87416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62" name="Shape 260"/>
          <p:cNvSpPr/>
          <p:nvPr/>
        </p:nvSpPr>
        <p:spPr>
          <a:xfrm>
            <a:off x="2157984" y="9198864"/>
            <a:ext cx="9546336" cy="9144"/>
          </a:xfrm>
          <a:prstGeom prst="rect">
            <a:avLst/>
          </a:prstGeom>
          <a:solidFill>
            <a:srgbClr val="F0F0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3" name="Text 261"/>
          <p:cNvSpPr/>
          <p:nvPr/>
        </p:nvSpPr>
        <p:spPr>
          <a:xfrm>
            <a:off x="2157984" y="91988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ALG-2026-0414-021</a:t>
            </a:r>
            <a:endParaRPr lang="en-US" sz="800" dirty="0"/>
          </a:p>
        </p:txBody>
      </p:sp>
      <p:sp>
        <p:nvSpPr>
          <p:cNvPr id="264" name="Text 262"/>
          <p:cNvSpPr/>
          <p:nvPr/>
        </p:nvSpPr>
        <p:spPr>
          <a:xfrm>
            <a:off x="3163824" y="91988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</a:t>
            </a:r>
            <a:endParaRPr lang="en-US" sz="800" dirty="0"/>
          </a:p>
        </p:txBody>
      </p:sp>
      <p:sp>
        <p:nvSpPr>
          <p:cNvPr id="265" name="Text 263"/>
          <p:cNvSpPr/>
          <p:nvPr/>
        </p:nvSpPr>
        <p:spPr>
          <a:xfrm>
            <a:off x="4069080" y="919886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18,000,000</a:t>
            </a:r>
            <a:endParaRPr lang="en-US" sz="800" dirty="0"/>
          </a:p>
        </p:txBody>
      </p:sp>
      <p:sp>
        <p:nvSpPr>
          <p:cNvPr id="266" name="Text 264"/>
          <p:cNvSpPr/>
          <p:nvPr/>
        </p:nvSpPr>
        <p:spPr>
          <a:xfrm>
            <a:off x="5084064" y="91988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16-Apr-2026</a:t>
            </a:r>
            <a:endParaRPr lang="en-US" sz="800" dirty="0"/>
          </a:p>
        </p:txBody>
      </p:sp>
      <p:sp>
        <p:nvSpPr>
          <p:cNvPr id="267" name="Shape 265"/>
          <p:cNvSpPr/>
          <p:nvPr/>
        </p:nvSpPr>
        <p:spPr>
          <a:xfrm>
            <a:off x="5868619" y="9317736"/>
            <a:ext cx="314554" cy="219456"/>
          </a:xfrm>
          <a:prstGeom prst="roundRect">
            <a:avLst>
              <a:gd name="adj" fmla="val 50000"/>
            </a:avLst>
          </a:prstGeom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8" name="Text 266"/>
          <p:cNvSpPr/>
          <p:nvPr/>
        </p:nvSpPr>
        <p:spPr>
          <a:xfrm>
            <a:off x="5868619" y="9317736"/>
            <a:ext cx="3145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700" dirty="0"/>
          </a:p>
        </p:txBody>
      </p:sp>
      <p:sp>
        <p:nvSpPr>
          <p:cNvPr id="269" name="Text 267"/>
          <p:cNvSpPr/>
          <p:nvPr/>
        </p:nvSpPr>
        <p:spPr>
          <a:xfrm>
            <a:off x="6345936" y="91988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 50m</a:t>
            </a:r>
            <a:endParaRPr lang="en-US" sz="800" dirty="0"/>
          </a:p>
        </p:txBody>
      </p:sp>
      <p:sp>
        <p:nvSpPr>
          <p:cNvPr id="270" name="Text 268"/>
          <p:cNvSpPr/>
          <p:nvPr/>
        </p:nvSpPr>
        <p:spPr>
          <a:xfrm>
            <a:off x="6949440" y="919886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pending</a:t>
            </a:r>
            <a:endParaRPr lang="en-US" sz="750" dirty="0"/>
          </a:p>
        </p:txBody>
      </p:sp>
      <p:sp>
        <p:nvSpPr>
          <p:cNvPr id="271" name="Text 269"/>
          <p:cNvSpPr/>
          <p:nvPr/>
        </p:nvSpPr>
        <p:spPr>
          <a:xfrm>
            <a:off x="7818120" y="91988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850" dirty="0"/>
          </a:p>
        </p:txBody>
      </p:sp>
      <p:sp>
        <p:nvSpPr>
          <p:cNvPr id="272" name="Shape 270"/>
          <p:cNvSpPr/>
          <p:nvPr/>
        </p:nvSpPr>
        <p:spPr>
          <a:xfrm>
            <a:off x="8948318" y="9317736"/>
            <a:ext cx="446227" cy="219456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3" name="Text 271"/>
          <p:cNvSpPr/>
          <p:nvPr/>
        </p:nvSpPr>
        <p:spPr>
          <a:xfrm>
            <a:off x="8948318" y="9317736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274" name="Shape 272"/>
          <p:cNvSpPr/>
          <p:nvPr/>
        </p:nvSpPr>
        <p:spPr>
          <a:xfrm>
            <a:off x="9491472" y="9317736"/>
            <a:ext cx="832104" cy="219456"/>
          </a:xfrm>
          <a:prstGeom prst="roundRect">
            <a:avLst>
              <a:gd name="adj" fmla="val 50000"/>
            </a:avLst>
          </a:prstGeom>
          <a:solidFill>
            <a:srgbClr val="F7EF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5" name="Text 273"/>
          <p:cNvSpPr/>
          <p:nvPr/>
        </p:nvSpPr>
        <p:spPr>
          <a:xfrm>
            <a:off x="9491472" y="9317736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A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Confirmation</a:t>
            </a:r>
            <a:endParaRPr lang="en-US" sz="700" dirty="0"/>
          </a:p>
        </p:txBody>
      </p:sp>
      <p:sp>
        <p:nvSpPr>
          <p:cNvPr id="276" name="Text 274"/>
          <p:cNvSpPr/>
          <p:nvPr/>
        </p:nvSpPr>
        <p:spPr>
          <a:xfrm>
            <a:off x="10396728" y="91988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Ginny Weasley</a:t>
            </a:r>
            <a:endParaRPr lang="en-US" sz="800" dirty="0"/>
          </a:p>
        </p:txBody>
      </p:sp>
      <p:sp>
        <p:nvSpPr>
          <p:cNvPr id="277" name="Shape 275"/>
          <p:cNvSpPr/>
          <p:nvPr/>
        </p:nvSpPr>
        <p:spPr>
          <a:xfrm>
            <a:off x="11150194" y="9317736"/>
            <a:ext cx="577901" cy="219456"/>
          </a:xfrm>
          <a:prstGeom prst="roundRect">
            <a:avLst>
              <a:gd name="adj" fmla="val 50000"/>
            </a:avLst>
          </a:prstGeom>
          <a:solidFill>
            <a:srgbClr val="FB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8" name="Text 276"/>
          <p:cNvSpPr/>
          <p:nvPr/>
        </p:nvSpPr>
        <p:spPr>
          <a:xfrm>
            <a:off x="11150194" y="9317736"/>
            <a:ext cx="5779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editable objects used across the dashboard. Edit a swatch here to restyle everywhere.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status pills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936346" cy="274320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93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(1)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42186" y="1920240"/>
            <a:ext cx="936346" cy="274320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942186" y="1920240"/>
            <a:ext cx="93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(2)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1411" y="1920240"/>
            <a:ext cx="652882" cy="274320"/>
          </a:xfrm>
          <a:prstGeom prst="roundRect">
            <a:avLst>
              <a:gd name="adj" fmla="val 50000"/>
            </a:avLst>
          </a:prstGeom>
          <a:solidFill>
            <a:srgbClr val="D8F0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061411" y="1920240"/>
            <a:ext cx="652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2377440"/>
            <a:ext cx="936346" cy="274320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377440"/>
            <a:ext cx="93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 no booking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42186" y="2377440"/>
            <a:ext cx="1446581" cy="274320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942186" y="2377440"/>
            <a:ext cx="1446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classification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71646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pending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46520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19659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922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35240" y="19659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6352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78240" y="19659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8F0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7782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→ red   ·   In Progress → amber   ·   Resolved → green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0632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77240" y="32095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status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3566160"/>
            <a:ext cx="766267" cy="274320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2960" y="3566160"/>
            <a:ext cx="7662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753819" y="3566160"/>
            <a:ext cx="879653" cy="274320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753819" y="3566160"/>
            <a:ext cx="8796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98064" y="3566160"/>
            <a:ext cx="709574" cy="274320"/>
          </a:xfrm>
          <a:prstGeom prst="roundRect">
            <a:avLst>
              <a:gd name="adj" fmla="val 50000"/>
            </a:avLst>
          </a:prstGeom>
          <a:solidFill>
            <a:srgbClr val="D8F0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798064" y="3566160"/>
            <a:ext cx="709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72230" y="3566160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F7EF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672230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Confirmation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30632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46520" y="32095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aging tags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92240" y="3566160"/>
            <a:ext cx="426110" cy="274320"/>
          </a:xfrm>
          <a:prstGeom prst="roundRect">
            <a:avLst>
              <a:gd name="adj" fmla="val 50000"/>
            </a:avLst>
          </a:prstGeom>
          <a:solidFill>
            <a:srgbClr val="EAE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92240" y="3566160"/>
            <a:ext cx="4261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01230" y="3566160"/>
            <a:ext cx="766267" cy="274320"/>
          </a:xfrm>
          <a:prstGeom prst="roundRect">
            <a:avLst>
              <a:gd name="adj" fmla="val 50000"/>
            </a:avLst>
          </a:prstGeom>
          <a:solidFill>
            <a:srgbClr val="FBE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101230" y="3566160"/>
            <a:ext cx="7662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50378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92240" y="3977640"/>
            <a:ext cx="548640" cy="237744"/>
          </a:xfrm>
          <a:prstGeom prst="roundRect">
            <a:avLst>
              <a:gd name="adj" fmla="val 50000"/>
            </a:avLst>
          </a:prstGeom>
          <a:ln w="9525">
            <a:solidFill>
              <a:srgbClr val="D23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92240" y="39776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T+2+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178040" y="3977640"/>
            <a:ext cx="548640" cy="237744"/>
          </a:xfrm>
          <a:prstGeom prst="roundRect">
            <a:avLst>
              <a:gd name="adj" fmla="val 50000"/>
            </a:avLst>
          </a:prstGeom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178040" y="39776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863840" y="3977640"/>
            <a:ext cx="548640" cy="237744"/>
          </a:xfrm>
          <a:prstGeom prst="roundRect">
            <a:avLst>
              <a:gd name="adj" fmla="val 50000"/>
            </a:avLst>
          </a:prstGeom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863840" y="39776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8640" y="46634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77240" y="4809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toggle &amp; chips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22960" y="5120640"/>
            <a:ext cx="1554480" cy="292608"/>
          </a:xfrm>
          <a:prstGeom prst="roundRect">
            <a:avLst>
              <a:gd name="adj" fmla="val 21875"/>
            </a:avLst>
          </a:prstGeom>
          <a:solidFill>
            <a:srgbClr val="E9E9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859536" y="5148072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59536" y="51480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609344" y="5148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0" y="51206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 w="12700">
            <a:solidFill>
              <a:srgbClr val="B9CD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2560320" y="5120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91840" y="5120640"/>
            <a:ext cx="65288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291840" y="5120640"/>
            <a:ext cx="6528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22960" y="5623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chip = blue fill · unselected = white + grey border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17920" y="46634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446520" y="4809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 states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492240" y="512064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DCE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601968" y="51206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903720" y="5120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(active)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006840" y="51206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308592" y="5120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Comparison  (default)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48640" y="62636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77240" y="6409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card / KPI callout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822960" y="6675120"/>
            <a:ext cx="2468880" cy="749808"/>
          </a:xfrm>
          <a:prstGeom prst="roundRect">
            <a:avLst>
              <a:gd name="adj" fmla="val 12195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960120" y="6858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E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960120" y="6858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463040" y="6766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463040" y="70500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(&gt;$50M)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463040" y="7223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filter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217920" y="62636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446520" y="6409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 (priority)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92240" y="6720840"/>
            <a:ext cx="4846320" cy="502920"/>
          </a:xfrm>
          <a:prstGeom prst="roundRect">
            <a:avLst>
              <a:gd name="adj" fmla="val 9091"/>
            </a:avLst>
          </a:prstGeom>
          <a:solidFill>
            <a:srgbClr val="FBF1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6492240" y="672084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629400" y="6720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ALG-2026-0414-017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863840" y="6720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9052560" y="685800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9052560" y="68580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(1)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0104120" y="6858000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10104120" y="68580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0698480" y="6858000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EAE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10698480" y="68580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7333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left band = priority counterparty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48640" y="7955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objects above are native PowerPoint shapes + text — select, recolour, resize or retype freely.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606</Words>
  <Application>Microsoft Office PowerPoint</Application>
  <PresentationFormat>Custom</PresentationFormat>
  <Paragraphs>239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BANK-AI Ops Portal — Wireframe</dc:title>
  <dc:subject>PptxGenJS Presentation</dc:subject>
  <dc:creator>Claude</dc:creator>
  <cp:lastModifiedBy>Akshit Mahajan (IND)</cp:lastModifiedBy>
  <cp:revision>3</cp:revision>
  <dcterms:created xsi:type="dcterms:W3CDTF">2026-07-03T07:19:19Z</dcterms:created>
  <dcterms:modified xsi:type="dcterms:W3CDTF">2026-07-03T11:40:14Z</dcterms:modified>
</cp:coreProperties>
</file>