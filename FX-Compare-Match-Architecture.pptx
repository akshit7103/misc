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10058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Compare &amp; Match — Technical Architecture on ServiceNow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11612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settlement triage → extract → Compare &amp; Match, on a ServiceNow scoped app · deterministic core with LLM-assist at marked points (⚡)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74320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Channels &amp; Sources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680667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1680667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51560"/>
            <a:ext cx="153436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/ Exchange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1252728"/>
            <a:ext cx="153436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settlement mailbox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2083003" y="987552"/>
            <a:ext cx="1680667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3003" y="987552"/>
            <a:ext cx="1680667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156155" y="1051560"/>
            <a:ext cx="153436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56155" y="1252728"/>
            <a:ext cx="153436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+ attachments (OAuth2)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3891686" y="987552"/>
            <a:ext cx="1680667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91686" y="987552"/>
            <a:ext cx="1680667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964838" y="1051560"/>
            <a:ext cx="153436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.eml upload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64838" y="1252728"/>
            <a:ext cx="153436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ingest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5700370" y="987552"/>
            <a:ext cx="1680667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6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00370" y="987552"/>
            <a:ext cx="1680667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773522" y="1051560"/>
            <a:ext cx="153436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/ Bank booking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73522" y="1252728"/>
            <a:ext cx="153436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 API · reference data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509053" y="987552"/>
            <a:ext cx="1680667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6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09053" y="987552"/>
            <a:ext cx="1680667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7582205" y="1051560"/>
            <a:ext cx="153436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82205" y="1252728"/>
            <a:ext cx="153436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settlement (write-back)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74320" y="1783080"/>
            <a:ext cx="8915400" cy="3246120"/>
          </a:xfrm>
          <a:prstGeom prst="roundRect">
            <a:avLst>
              <a:gd name="adj" fmla="val 2254"/>
            </a:avLst>
          </a:prstGeom>
          <a:solidFill>
            <a:srgbClr val="E7F3EE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1783080"/>
            <a:ext cx="8915400" cy="29260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1783080"/>
            <a:ext cx="8641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— Scoped Application · FX Compare &amp; Match  (x_2112826_fxcm)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8912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Ingestion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38912" y="2350008"/>
            <a:ext cx="206425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" y="2350008"/>
            <a:ext cx="2064258" cy="457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" y="2414016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+ REST Message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512064" y="2596896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RESTMessageV2 → Graph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2612898" y="2350008"/>
            <a:ext cx="206425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12898" y="2350008"/>
            <a:ext cx="2064258" cy="457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33"/>
          <p:cNvSpPr/>
          <p:nvPr/>
        </p:nvSpPr>
        <p:spPr>
          <a:xfrm>
            <a:off x="2686050" y="2414016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GraphConnector (Script Include)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2686050" y="2596896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inbox · raw MIME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4786884" y="2350008"/>
            <a:ext cx="206425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86884" y="2350008"/>
            <a:ext cx="2064258" cy="457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4860036" y="2414016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EmlParser · Attachment Extractor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4860036" y="2596896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XLSX (GlideExcelParser) · PDF/OCR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6960870" y="2350008"/>
            <a:ext cx="206425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60870" y="2350008"/>
            <a:ext cx="2064258" cy="457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Text 41"/>
          <p:cNvSpPr/>
          <p:nvPr/>
        </p:nvSpPr>
        <p:spPr>
          <a:xfrm>
            <a:off x="7034022" y="2414016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 + Event / Script Action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7034022" y="2596896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 · on-demand sync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438912" y="3008376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 — Sense → Plan → Act → Reflect  (Business Rules + Script Includes)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38912" y="3209544"/>
            <a:ext cx="146852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8912" y="3209544"/>
            <a:ext cx="1468526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512064" y="3273552"/>
            <a:ext cx="132222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512064" y="3694176"/>
            <a:ext cx="132222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GraphConnector · EmlParser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1934870" y="3602736"/>
            <a:ext cx="2560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2218334" y="3209544"/>
            <a:ext cx="146852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18334" y="3209544"/>
            <a:ext cx="1468526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2291486" y="3273552"/>
            <a:ext cx="95646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Dedup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2291486" y="3694176"/>
            <a:ext cx="132222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RuleClassifier · confidence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3394253" y="3255264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EDE7FB"/>
          </a:solidFill>
          <a:ln/>
        </p:spPr>
      </p:sp>
      <p:sp>
        <p:nvSpPr>
          <p:cNvPr id="56" name="Text 54"/>
          <p:cNvSpPr/>
          <p:nvPr/>
        </p:nvSpPr>
        <p:spPr>
          <a:xfrm>
            <a:off x="3394253" y="3236976"/>
            <a:ext cx="23774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14293" y="3602736"/>
            <a:ext cx="2560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3997757" y="3209544"/>
            <a:ext cx="146852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97757" y="3209544"/>
            <a:ext cx="1468526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4070909" y="3273552"/>
            <a:ext cx="95646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Extraction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4070909" y="3694176"/>
            <a:ext cx="132222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Attachment parser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5173675" y="3255264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EDE7FB"/>
          </a:solidFill>
          <a:ln/>
        </p:spPr>
      </p:sp>
      <p:sp>
        <p:nvSpPr>
          <p:cNvPr id="63" name="Text 61"/>
          <p:cNvSpPr/>
          <p:nvPr/>
        </p:nvSpPr>
        <p:spPr>
          <a:xfrm>
            <a:off x="5173675" y="3236976"/>
            <a:ext cx="23774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493715" y="3602736"/>
            <a:ext cx="2560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777179" y="3209544"/>
            <a:ext cx="146852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77179" y="3209544"/>
            <a:ext cx="1468526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7" name="Text 65"/>
          <p:cNvSpPr/>
          <p:nvPr/>
        </p:nvSpPr>
        <p:spPr>
          <a:xfrm>
            <a:off x="5850331" y="3273552"/>
            <a:ext cx="81015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Match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5850331" y="3694176"/>
            <a:ext cx="132222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CompareMatcher · tolerances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6788506" y="3255264"/>
            <a:ext cx="402336" cy="1828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70" name="Text 68"/>
          <p:cNvSpPr/>
          <p:nvPr/>
        </p:nvSpPr>
        <p:spPr>
          <a:xfrm>
            <a:off x="6788506" y="3246120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rules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7273138" y="3602736"/>
            <a:ext cx="2560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7556602" y="3209544"/>
            <a:ext cx="146852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56602" y="3209544"/>
            <a:ext cx="1468526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4" name="Text 72"/>
          <p:cNvSpPr/>
          <p:nvPr/>
        </p:nvSpPr>
        <p:spPr>
          <a:xfrm>
            <a:off x="7629754" y="3273552"/>
            <a:ext cx="95646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Action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7629754" y="3694176"/>
            <a:ext cx="132222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· escalate · chase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8732520" y="3255264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EDE7FB"/>
          </a:solidFill>
          <a:ln/>
        </p:spPr>
      </p:sp>
      <p:sp>
        <p:nvSpPr>
          <p:cNvPr id="77" name="Text 75"/>
          <p:cNvSpPr/>
          <p:nvPr/>
        </p:nvSpPr>
        <p:spPr>
          <a:xfrm>
            <a:off x="8732520" y="3236976"/>
            <a:ext cx="23774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38912" y="4050792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Platform services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38912" y="4233672"/>
            <a:ext cx="206425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FD8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38912" y="4233672"/>
            <a:ext cx="2064258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81" name="Text 79"/>
          <p:cNvSpPr/>
          <p:nvPr/>
        </p:nvSpPr>
        <p:spPr>
          <a:xfrm>
            <a:off x="512064" y="4297680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(Tables)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512064" y="4407408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· trade · golden · match · field_diff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2612898" y="4233672"/>
            <a:ext cx="206425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FD8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12898" y="4233672"/>
            <a:ext cx="2064258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85" name="Text 83"/>
          <p:cNvSpPr/>
          <p:nvPr/>
        </p:nvSpPr>
        <p:spPr>
          <a:xfrm>
            <a:off x="2686050" y="4297680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ACLs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2686050" y="4407408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access matrix</a:t>
            </a:r>
            <a:endParaRPr lang="en-US" sz="680" dirty="0"/>
          </a:p>
        </p:txBody>
      </p:sp>
      <p:sp>
        <p:nvSpPr>
          <p:cNvPr id="87" name="Shape 85"/>
          <p:cNvSpPr/>
          <p:nvPr/>
        </p:nvSpPr>
        <p:spPr>
          <a:xfrm>
            <a:off x="4786884" y="4233672"/>
            <a:ext cx="206425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FD8C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86884" y="4233672"/>
            <a:ext cx="2064258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89" name="Text 87"/>
          <p:cNvSpPr/>
          <p:nvPr/>
        </p:nvSpPr>
        <p:spPr>
          <a:xfrm>
            <a:off x="4860036" y="4297680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Case timeline</a:t>
            </a:r>
            <a:endParaRPr lang="en-US" sz="780" dirty="0"/>
          </a:p>
        </p:txBody>
      </p:sp>
      <p:sp>
        <p:nvSpPr>
          <p:cNvPr id="90" name="Text 88"/>
          <p:cNvSpPr/>
          <p:nvPr/>
        </p:nvSpPr>
        <p:spPr>
          <a:xfrm>
            <a:off x="4860036" y="4407408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· every action</a:t>
            </a:r>
            <a:endParaRPr lang="en-US" sz="680" dirty="0"/>
          </a:p>
        </p:txBody>
      </p:sp>
      <p:sp>
        <p:nvSpPr>
          <p:cNvPr id="91" name="Shape 89"/>
          <p:cNvSpPr/>
          <p:nvPr/>
        </p:nvSpPr>
        <p:spPr>
          <a:xfrm>
            <a:off x="6960870" y="4233672"/>
            <a:ext cx="206425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FD8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960870" y="4233672"/>
            <a:ext cx="2064258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93" name="Text 91"/>
          <p:cNvSpPr/>
          <p:nvPr/>
        </p:nvSpPr>
        <p:spPr>
          <a:xfrm>
            <a:off x="7034022" y="4297680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/ Keywords</a:t>
            </a:r>
            <a:endParaRPr lang="en-US" sz="780" dirty="0"/>
          </a:p>
        </p:txBody>
      </p:sp>
      <p:sp>
        <p:nvSpPr>
          <p:cNvPr id="94" name="Text 92"/>
          <p:cNvSpPr/>
          <p:nvPr/>
        </p:nvSpPr>
        <p:spPr>
          <a:xfrm>
            <a:off x="7034022" y="4407408"/>
            <a:ext cx="19179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· thresholds · config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274320" y="5138928"/>
            <a:ext cx="4572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Experience — Service Portal (AngularJS)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74320" y="5340096"/>
            <a:ext cx="13944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9D6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4320" y="5340096"/>
            <a:ext cx="13944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8" name="Text 96"/>
          <p:cNvSpPr/>
          <p:nvPr/>
        </p:nvSpPr>
        <p:spPr>
          <a:xfrm>
            <a:off x="347472" y="5404104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Console</a:t>
            </a:r>
            <a:endParaRPr lang="en-US" sz="780" dirty="0"/>
          </a:p>
        </p:txBody>
      </p:sp>
      <p:sp>
        <p:nvSpPr>
          <p:cNvPr id="99" name="Text 97"/>
          <p:cNvSpPr/>
          <p:nvPr/>
        </p:nvSpPr>
        <p:spPr>
          <a:xfrm>
            <a:off x="347472" y="5568696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detail · compare &amp; match</a:t>
            </a:r>
            <a:endParaRPr lang="en-US" sz="680" dirty="0"/>
          </a:p>
        </p:txBody>
      </p:sp>
      <p:sp>
        <p:nvSpPr>
          <p:cNvPr id="100" name="Shape 98"/>
          <p:cNvSpPr/>
          <p:nvPr/>
        </p:nvSpPr>
        <p:spPr>
          <a:xfrm>
            <a:off x="1778508" y="5340096"/>
            <a:ext cx="13944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9D6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78508" y="5340096"/>
            <a:ext cx="13944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2" name="Text 100"/>
          <p:cNvSpPr/>
          <p:nvPr/>
        </p:nvSpPr>
        <p:spPr>
          <a:xfrm>
            <a:off x="1851660" y="5404104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780" dirty="0"/>
          </a:p>
        </p:txBody>
      </p:sp>
      <p:sp>
        <p:nvSpPr>
          <p:cNvPr id="103" name="Text 101"/>
          <p:cNvSpPr/>
          <p:nvPr/>
        </p:nvSpPr>
        <p:spPr>
          <a:xfrm>
            <a:off x="1851660" y="5568696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Wizard</a:t>
            </a:r>
            <a:endParaRPr lang="en-US" sz="680" dirty="0"/>
          </a:p>
        </p:txBody>
      </p:sp>
      <p:sp>
        <p:nvSpPr>
          <p:cNvPr id="104" name="Shape 102"/>
          <p:cNvSpPr/>
          <p:nvPr/>
        </p:nvSpPr>
        <p:spPr>
          <a:xfrm>
            <a:off x="3282696" y="5340096"/>
            <a:ext cx="13944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9D6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282696" y="5340096"/>
            <a:ext cx="13944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6" name="Text 104"/>
          <p:cNvSpPr/>
          <p:nvPr/>
        </p:nvSpPr>
        <p:spPr>
          <a:xfrm>
            <a:off x="3355848" y="5404104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80" dirty="0"/>
          </a:p>
        </p:txBody>
      </p:sp>
      <p:sp>
        <p:nvSpPr>
          <p:cNvPr id="107" name="Text 105"/>
          <p:cNvSpPr/>
          <p:nvPr/>
        </p:nvSpPr>
        <p:spPr>
          <a:xfrm>
            <a:off x="3355848" y="5568696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LLM config</a:t>
            </a:r>
            <a:endParaRPr lang="en-US" sz="680" dirty="0"/>
          </a:p>
        </p:txBody>
      </p:sp>
      <p:sp>
        <p:nvSpPr>
          <p:cNvPr id="108" name="Shape 106"/>
          <p:cNvSpPr/>
          <p:nvPr/>
        </p:nvSpPr>
        <p:spPr>
          <a:xfrm>
            <a:off x="4786884" y="5340096"/>
            <a:ext cx="13944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9D6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86884" y="5340096"/>
            <a:ext cx="13944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0" name="Text 108"/>
          <p:cNvSpPr/>
          <p:nvPr/>
        </p:nvSpPr>
        <p:spPr>
          <a:xfrm>
            <a:off x="4860036" y="5404104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80" dirty="0"/>
          </a:p>
        </p:txBody>
      </p:sp>
      <p:sp>
        <p:nvSpPr>
          <p:cNvPr id="111" name="Text 109"/>
          <p:cNvSpPr/>
          <p:nvPr/>
        </p:nvSpPr>
        <p:spPr>
          <a:xfrm>
            <a:off x="4860036" y="5568696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· SLA</a:t>
            </a:r>
            <a:endParaRPr lang="en-US" sz="680" dirty="0"/>
          </a:p>
        </p:txBody>
      </p:sp>
      <p:sp>
        <p:nvSpPr>
          <p:cNvPr id="112" name="Shape 110"/>
          <p:cNvSpPr/>
          <p:nvPr/>
        </p:nvSpPr>
        <p:spPr>
          <a:xfrm>
            <a:off x="6291072" y="5340096"/>
            <a:ext cx="13944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9D6F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291072" y="5340096"/>
            <a:ext cx="13944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4" name="Text 112"/>
          <p:cNvSpPr/>
          <p:nvPr/>
        </p:nvSpPr>
        <p:spPr>
          <a:xfrm>
            <a:off x="6364224" y="5404104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80" dirty="0"/>
          </a:p>
        </p:txBody>
      </p:sp>
      <p:sp>
        <p:nvSpPr>
          <p:cNvPr id="115" name="Text 113"/>
          <p:cNvSpPr/>
          <p:nvPr/>
        </p:nvSpPr>
        <p:spPr>
          <a:xfrm>
            <a:off x="6364224" y="5568696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· trend · league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7795260" y="5340096"/>
            <a:ext cx="13944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9D6F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795260" y="5340096"/>
            <a:ext cx="13944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8" name="Text 116"/>
          <p:cNvSpPr/>
          <p:nvPr/>
        </p:nvSpPr>
        <p:spPr>
          <a:xfrm>
            <a:off x="7868412" y="5404104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Timeline</a:t>
            </a:r>
            <a:endParaRPr lang="en-US" sz="780" dirty="0"/>
          </a:p>
        </p:txBody>
      </p:sp>
      <p:sp>
        <p:nvSpPr>
          <p:cNvPr id="119" name="Text 117"/>
          <p:cNvSpPr/>
          <p:nvPr/>
        </p:nvSpPr>
        <p:spPr>
          <a:xfrm>
            <a:off x="7868412" y="5568696"/>
            <a:ext cx="12481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</a:t>
            </a:r>
            <a:endParaRPr lang="en-US" sz="680" dirty="0"/>
          </a:p>
        </p:txBody>
      </p:sp>
      <p:sp>
        <p:nvSpPr>
          <p:cNvPr id="120" name="Shape 118"/>
          <p:cNvSpPr/>
          <p:nvPr/>
        </p:nvSpPr>
        <p:spPr>
          <a:xfrm>
            <a:off x="9326880" y="786384"/>
            <a:ext cx="2606040" cy="5084064"/>
          </a:xfrm>
          <a:prstGeom prst="roundRect">
            <a:avLst>
              <a:gd name="adj" fmla="val 2807"/>
            </a:avLst>
          </a:prstGeom>
          <a:solidFill>
            <a:srgbClr val="EDE7F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326880" y="786384"/>
            <a:ext cx="2606040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2" name="Text 120"/>
          <p:cNvSpPr/>
          <p:nvPr/>
        </p:nvSpPr>
        <p:spPr>
          <a:xfrm>
            <a:off x="9464040" y="786384"/>
            <a:ext cx="2331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Layer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9464040" y="1152144"/>
            <a:ext cx="2331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/ LLM API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9464040" y="1371600"/>
            <a:ext cx="2331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</a:t>
            </a:r>
            <a:pPr algn="l" indent="0" marL="0">
              <a:lnSpc>
                <a:spcPct val="98000"/>
              </a:lnSpc>
              <a:buNone/>
            </a:pPr>
            <a:r>
              <a:rPr lang="en-US" sz="74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Use LLM</a:t>
            </a:r>
            <a:pPr algn="l" indent="0" marL="0">
              <a:lnSpc>
                <a:spcPct val="98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(on/off · model). Fallback = deterministic rules + keywords when off.</a:t>
            </a:r>
            <a:endParaRPr lang="en-US" sz="740" dirty="0"/>
          </a:p>
        </p:txBody>
      </p:sp>
      <p:sp>
        <p:nvSpPr>
          <p:cNvPr id="125" name="Text 123"/>
          <p:cNvSpPr/>
          <p:nvPr/>
        </p:nvSpPr>
        <p:spPr>
          <a:xfrm>
            <a:off x="9464040" y="1975104"/>
            <a:ext cx="23317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LLM is used  ⚡</a:t>
            </a:r>
            <a:endParaRPr lang="en-US" sz="860" dirty="0"/>
          </a:p>
        </p:txBody>
      </p:sp>
      <p:sp>
        <p:nvSpPr>
          <p:cNvPr id="126" name="Shape 124"/>
          <p:cNvSpPr/>
          <p:nvPr/>
        </p:nvSpPr>
        <p:spPr>
          <a:xfrm>
            <a:off x="9464040" y="224942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27" name="Text 125"/>
          <p:cNvSpPr/>
          <p:nvPr/>
        </p:nvSpPr>
        <p:spPr>
          <a:xfrm>
            <a:off x="9464040" y="2249424"/>
            <a:ext cx="2194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9747504" y="2231136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classification</a:t>
            </a:r>
            <a:endParaRPr lang="en-US" sz="780" dirty="0"/>
          </a:p>
        </p:txBody>
      </p:sp>
      <p:sp>
        <p:nvSpPr>
          <p:cNvPr id="129" name="Text 127"/>
          <p:cNvSpPr/>
          <p:nvPr/>
        </p:nvSpPr>
        <p:spPr>
          <a:xfrm>
            <a:off x="9747504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on ambiguous mail + confidence</a:t>
            </a:r>
            <a:endParaRPr lang="en-US" sz="680" dirty="0"/>
          </a:p>
        </p:txBody>
      </p:sp>
      <p:sp>
        <p:nvSpPr>
          <p:cNvPr id="130" name="Shape 128"/>
          <p:cNvSpPr/>
          <p:nvPr/>
        </p:nvSpPr>
        <p:spPr>
          <a:xfrm>
            <a:off x="9464040" y="276148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31" name="Text 129"/>
          <p:cNvSpPr/>
          <p:nvPr/>
        </p:nvSpPr>
        <p:spPr>
          <a:xfrm>
            <a:off x="9464040" y="2761488"/>
            <a:ext cx="2194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32" name="Text 130"/>
          <p:cNvSpPr/>
          <p:nvPr/>
        </p:nvSpPr>
        <p:spPr>
          <a:xfrm>
            <a:off x="9747504" y="2743200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extraction</a:t>
            </a:r>
            <a:endParaRPr lang="en-US" sz="780" dirty="0"/>
          </a:p>
        </p:txBody>
      </p:sp>
      <p:sp>
        <p:nvSpPr>
          <p:cNvPr id="133" name="Text 131"/>
          <p:cNvSpPr/>
          <p:nvPr/>
        </p:nvSpPr>
        <p:spPr>
          <a:xfrm>
            <a:off x="9747504" y="2935224"/>
            <a:ext cx="2057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bodies &amp; PDFs (+ OCR / Doc Intelligence)</a:t>
            </a:r>
            <a:endParaRPr lang="en-US" sz="680" dirty="0"/>
          </a:p>
        </p:txBody>
      </p:sp>
      <p:sp>
        <p:nvSpPr>
          <p:cNvPr id="134" name="Shape 132"/>
          <p:cNvSpPr/>
          <p:nvPr/>
        </p:nvSpPr>
        <p:spPr>
          <a:xfrm>
            <a:off x="9464040" y="32735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35" name="Text 133"/>
          <p:cNvSpPr/>
          <p:nvPr/>
        </p:nvSpPr>
        <p:spPr>
          <a:xfrm>
            <a:off x="9464040" y="3273552"/>
            <a:ext cx="2194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9747504" y="3255264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Next-action classification</a:t>
            </a:r>
            <a:endParaRPr lang="en-US" sz="780" dirty="0"/>
          </a:p>
        </p:txBody>
      </p:sp>
      <p:sp>
        <p:nvSpPr>
          <p:cNvPr id="137" name="Text 135"/>
          <p:cNvSpPr/>
          <p:nvPr/>
        </p:nvSpPr>
        <p:spPr>
          <a:xfrm>
            <a:off x="9747504" y="3447288"/>
            <a:ext cx="2057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/ cancel + “Why this action” reasoning</a:t>
            </a:r>
            <a:endParaRPr lang="en-US" sz="680" dirty="0"/>
          </a:p>
        </p:txBody>
      </p:sp>
      <p:sp>
        <p:nvSpPr>
          <p:cNvPr id="138" name="Shape 136"/>
          <p:cNvSpPr/>
          <p:nvPr/>
        </p:nvSpPr>
        <p:spPr>
          <a:xfrm>
            <a:off x="9464040" y="378561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39" name="Text 137"/>
          <p:cNvSpPr/>
          <p:nvPr/>
        </p:nvSpPr>
        <p:spPr>
          <a:xfrm>
            <a:off x="9464040" y="3785616"/>
            <a:ext cx="2194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9747504" y="3767328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action emails</a:t>
            </a:r>
            <a:endParaRPr lang="en-US" sz="780" dirty="0"/>
          </a:p>
        </p:txBody>
      </p:sp>
      <p:sp>
        <p:nvSpPr>
          <p:cNvPr id="141" name="Text 139"/>
          <p:cNvSpPr/>
          <p:nvPr/>
        </p:nvSpPr>
        <p:spPr>
          <a:xfrm>
            <a:off x="9747504" y="3959352"/>
            <a:ext cx="2057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counterparty · escalate MO / SSI</a:t>
            </a:r>
            <a:endParaRPr lang="en-US" sz="680" dirty="0"/>
          </a:p>
        </p:txBody>
      </p:sp>
      <p:sp>
        <p:nvSpPr>
          <p:cNvPr id="142" name="Shape 140"/>
          <p:cNvSpPr/>
          <p:nvPr/>
        </p:nvSpPr>
        <p:spPr>
          <a:xfrm>
            <a:off x="9464040" y="429768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43" name="Text 141"/>
          <p:cNvSpPr/>
          <p:nvPr/>
        </p:nvSpPr>
        <p:spPr>
          <a:xfrm>
            <a:off x="9464040" y="4297680"/>
            <a:ext cx="2194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9747504" y="4279392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Ask-Me-Anything</a:t>
            </a:r>
            <a:endParaRPr lang="en-US" sz="780" dirty="0"/>
          </a:p>
        </p:txBody>
      </p:sp>
      <p:sp>
        <p:nvSpPr>
          <p:cNvPr id="145" name="Text 143"/>
          <p:cNvSpPr/>
          <p:nvPr/>
        </p:nvSpPr>
        <p:spPr>
          <a:xfrm>
            <a:off x="9747504" y="4471416"/>
            <a:ext cx="2057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Q&amp;A assistant</a:t>
            </a:r>
            <a:endParaRPr lang="en-US" sz="680" dirty="0"/>
          </a:p>
        </p:txBody>
      </p:sp>
      <p:sp>
        <p:nvSpPr>
          <p:cNvPr id="146" name="Shape 144"/>
          <p:cNvSpPr/>
          <p:nvPr/>
        </p:nvSpPr>
        <p:spPr>
          <a:xfrm>
            <a:off x="9464040" y="4828032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2700">
            <a:solidFill>
              <a:srgbClr val="B7E4C6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564624" y="4855464"/>
            <a:ext cx="2148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in the match decision — </a:t>
            </a:r>
            <a:pPr algn="l" indent="0" marL="0">
              <a:lnSpc>
                <a:spcPct val="98000"/>
              </a:lnSpc>
              <a:buNone/>
            </a:pPr>
            <a:r>
              <a:rPr lang="en-US" sz="7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Match stays deterministic &amp; auditable.</a:t>
            </a:r>
            <a:endParaRPr lang="en-US" sz="720" dirty="0"/>
          </a:p>
        </p:txBody>
      </p:sp>
      <p:sp>
        <p:nvSpPr>
          <p:cNvPr id="148" name="Shape 146"/>
          <p:cNvSpPr/>
          <p:nvPr/>
        </p:nvSpPr>
        <p:spPr>
          <a:xfrm>
            <a:off x="2923337" y="1554480"/>
            <a:ext cx="0" cy="2286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9" name="Shape 147"/>
          <p:cNvSpPr/>
          <p:nvPr/>
        </p:nvSpPr>
        <p:spPr>
          <a:xfrm>
            <a:off x="9171432" y="3602736"/>
            <a:ext cx="173736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  <a:tailEnd type="triangle"/>
          </a:ln>
        </p:spPr>
      </p:sp>
      <p:sp>
        <p:nvSpPr>
          <p:cNvPr id="150" name="Text 148"/>
          <p:cNvSpPr/>
          <p:nvPr/>
        </p:nvSpPr>
        <p:spPr>
          <a:xfrm>
            <a:off x="7635240" y="3081528"/>
            <a:ext cx="15544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ct val="98000"/>
              </a:lnSpc>
              <a:buNone/>
            </a:pPr>
            <a:r>
              <a:rPr lang="en-US" sz="64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Now Assist calls</a:t>
            </a:r>
            <a:endParaRPr lang="en-US" sz="640" dirty="0"/>
          </a:p>
        </p:txBody>
      </p:sp>
      <p:sp>
        <p:nvSpPr>
          <p:cNvPr id="151" name="Shape 149"/>
          <p:cNvSpPr/>
          <p:nvPr/>
        </p:nvSpPr>
        <p:spPr>
          <a:xfrm>
            <a:off x="274320" y="6053328"/>
            <a:ext cx="1164031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57200" y="6053328"/>
            <a:ext cx="7863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2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Compare &amp; Match core — </a:t>
            </a:r>
            <a:pPr algn="l" indent="0" marL="0">
              <a:lnSpc>
                <a:spcPct val="98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 is rules + tolerances (100% = tick, else mismatch), fully explainable &amp; audited; an LLM never decides a match.  </a:t>
            </a:r>
            <a:pPr algn="l" indent="0" marL="0">
              <a:lnSpc>
                <a:spcPct val="98000"/>
              </a:lnSpc>
              <a:buNone/>
            </a:pPr>
            <a:r>
              <a:rPr lang="en-US" sz="82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today is rule-based;</a:t>
            </a:r>
            <a:pPr algn="l" indent="0" marL="0">
              <a:lnSpc>
                <a:spcPct val="98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⚡ marks where LLM / Now Assist plugs in.</a:t>
            </a:r>
            <a:endParaRPr lang="en-US" sz="820" dirty="0"/>
          </a:p>
        </p:txBody>
      </p:sp>
      <p:sp>
        <p:nvSpPr>
          <p:cNvPr id="153" name="Text 151"/>
          <p:cNvSpPr/>
          <p:nvPr/>
        </p:nvSpPr>
        <p:spPr>
          <a:xfrm>
            <a:off x="8503920" y="6053328"/>
            <a:ext cx="3291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  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flow    </a:t>
            </a:r>
            <a:pPr algn="l" indent="0" marL="0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    </a:t>
            </a:r>
            <a:pPr algn="l" indent="0" marL="0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2026-07-10T12:25:16Z</dcterms:created>
  <dcterms:modified xsi:type="dcterms:W3CDTF">2026-07-10T12:25:16Z</dcterms:modified>
</cp:coreProperties>
</file>