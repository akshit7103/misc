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1338560" cy="17465040"/>
  <p:notesSz cx="17465040" cy="1133856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338560" cy="4206240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315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23B2E"/>
          </a:solidFill>
          <a:ln/>
        </p:spPr>
      </p:sp>
      <p:sp>
        <p:nvSpPr>
          <p:cNvPr id="4" name="Text 2"/>
          <p:cNvSpPr/>
          <p:nvPr/>
        </p:nvSpPr>
        <p:spPr>
          <a:xfrm>
            <a:off x="1417320" y="713232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BANK-AI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41248" y="1554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8F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Ops Portal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Allege Detail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ALG-2026-0414-017 — settlement matching workspace · UI Wireframe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572768" y="6217920"/>
            <a:ext cx="25603" cy="9052560"/>
          </a:xfrm>
          <a:prstGeom prst="rect">
            <a:avLst/>
          </a:prstGeom>
          <a:solidFill>
            <a:srgbClr val="3A4658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5760720"/>
            <a:ext cx="457200" cy="457200"/>
          </a:xfrm>
          <a:prstGeom prst="ellipse">
            <a:avLst/>
          </a:prstGeom>
          <a:solidFill>
            <a:srgbClr val="E23B2E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5760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94560" y="5715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from email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194560" y="6144768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AI-extracted trade fields, confirmed by the analyst — with the original counterparty message.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371600" y="8778240"/>
            <a:ext cx="457200" cy="457200"/>
          </a:xfrm>
          <a:prstGeom prst="ellipse">
            <a:avLst/>
          </a:prstGeom>
          <a:solidFill>
            <a:srgbClr val="E2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8778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94560" y="8732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bank booking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2194560" y="9162288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counterparty vs bank-booked details, field-level match / mismatch, override &amp; save.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371600" y="11795760"/>
            <a:ext cx="457200" cy="457200"/>
          </a:xfrm>
          <a:prstGeom prst="ellipse">
            <a:avLst/>
          </a:prstGeom>
          <a:solidFill>
            <a:srgbClr val="E23B2E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1179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194560" y="1175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next action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2194560" y="12179808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AI-suggested next action, unlocked once the analyst saves the match review.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371600" y="14813280"/>
            <a:ext cx="457200" cy="457200"/>
          </a:xfrm>
          <a:prstGeom prst="ellipse">
            <a:avLst/>
          </a:prstGeom>
          <a:solidFill>
            <a:srgbClr val="2B3A2E"/>
          </a:solidFill>
          <a:ln/>
        </p:spPr>
      </p:sp>
      <p:sp>
        <p:nvSpPr>
          <p:cNvPr id="22" name="Text 20"/>
          <p:cNvSpPr/>
          <p:nvPr/>
        </p:nvSpPr>
        <p:spPr>
          <a:xfrm>
            <a:off x="1371600" y="1481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◷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194560" y="14767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audit timeline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2194560" y="15197328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and analyst action on the allege — most recent first, with AI notes.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0" y="17099280"/>
            <a:ext cx="11338560" cy="365760"/>
          </a:xfrm>
          <a:prstGeom prst="rect">
            <a:avLst/>
          </a:prstGeom>
          <a:solidFill>
            <a:srgbClr val="E23B2E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17099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BANK-AI  ·  Settlement Operations  ·  Allege Detail Wireframe  ·  editable components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0" cy="17465040"/>
          </a:xfrm>
          <a:prstGeom prst="rect">
            <a:avLst/>
          </a:prstGeom>
          <a:solidFill>
            <a:srgbClr val="EFEEE2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" y="201168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E23B2E"/>
          </a:solidFill>
          <a:ln/>
        </p:spPr>
      </p:sp>
      <p:sp>
        <p:nvSpPr>
          <p:cNvPr id="4" name="Text 2"/>
          <p:cNvSpPr/>
          <p:nvPr/>
        </p:nvSpPr>
        <p:spPr>
          <a:xfrm>
            <a:off x="530352" y="17373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BANK-AI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80160" y="182880"/>
            <a:ext cx="237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☽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1168" y="77724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2064" y="777240"/>
            <a:ext cx="950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01168" y="122529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12064" y="1225296"/>
            <a:ext cx="950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Driver Onboarding Wizard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01168" y="178308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" y="1783080"/>
            <a:ext cx="950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Comparison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1168" y="223113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064" y="2231136"/>
            <a:ext cx="950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Me Anything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01168" y="267919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" y="2679192"/>
            <a:ext cx="950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1168" y="312724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2064" y="3127248"/>
            <a:ext cx="950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C4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9728" y="15956280"/>
            <a:ext cx="1335024" cy="10973"/>
          </a:xfrm>
          <a:prstGeom prst="rect">
            <a:avLst/>
          </a:prstGeom>
          <a:solidFill>
            <a:srgbClr val="E4E4D6"/>
          </a:solidFill>
          <a:ln/>
        </p:spPr>
      </p:sp>
      <p:sp>
        <p:nvSpPr>
          <p:cNvPr id="19" name="Shape 17"/>
          <p:cNvSpPr/>
          <p:nvPr/>
        </p:nvSpPr>
        <p:spPr>
          <a:xfrm>
            <a:off x="164592" y="16093440"/>
            <a:ext cx="365760" cy="365760"/>
          </a:xfrm>
          <a:prstGeom prst="ellipse">
            <a:avLst/>
          </a:prstGeom>
          <a:solidFill>
            <a:srgbClr val="DCE7FB"/>
          </a:solidFill>
          <a:ln/>
        </p:spPr>
      </p:sp>
      <p:sp>
        <p:nvSpPr>
          <p:cNvPr id="20" name="Text 18"/>
          <p:cNvSpPr/>
          <p:nvPr/>
        </p:nvSpPr>
        <p:spPr>
          <a:xfrm>
            <a:off x="164592" y="1609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03504" y="160934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Ginny Weasley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3504" y="16303752"/>
            <a:ext cx="960120" cy="201168"/>
          </a:xfrm>
          <a:prstGeom prst="roundRect">
            <a:avLst>
              <a:gd name="adj" fmla="val 50000"/>
            </a:avLst>
          </a:prstGeom>
          <a:solidFill>
            <a:srgbClr val="DCE7FB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" y="163037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Analyst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46304" y="166420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Sign Out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46304" y="1723644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783080" y="1371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Ops Portal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012680" y="1463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Ginny Weasley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531352" y="173736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DCE7FB"/>
          </a:solidFill>
          <a:ln/>
        </p:spPr>
      </p:sp>
      <p:sp>
        <p:nvSpPr>
          <p:cNvPr id="29" name="Text 27"/>
          <p:cNvSpPr/>
          <p:nvPr/>
        </p:nvSpPr>
        <p:spPr>
          <a:xfrm>
            <a:off x="8531352" y="1737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Analyst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940296" y="164592"/>
            <a:ext cx="1463040" cy="292608"/>
          </a:xfrm>
          <a:prstGeom prst="roundRect">
            <a:avLst>
              <a:gd name="adj" fmla="val 21875"/>
            </a:avLst>
          </a:prstGeom>
          <a:solidFill>
            <a:srgbClr val="E9E9DE"/>
          </a:solidFill>
          <a:ln/>
        </p:spPr>
      </p:sp>
      <p:sp>
        <p:nvSpPr>
          <p:cNvPr id="31" name="Shape 29"/>
          <p:cNvSpPr/>
          <p:nvPr/>
        </p:nvSpPr>
        <p:spPr>
          <a:xfrm>
            <a:off x="6976872" y="192024"/>
            <a:ext cx="713232" cy="237744"/>
          </a:xfrm>
          <a:prstGeom prst="roundRect">
            <a:avLst>
              <a:gd name="adj" fmla="val 23077"/>
            </a:avLst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6976872" y="19202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690104" y="192024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391656" y="16459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783080" y="658368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2167128" y="6583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ALG-2026-0414-017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4069080" y="704088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FBE3E1"/>
          </a:solidFill>
          <a:ln/>
        </p:spPr>
      </p:sp>
      <p:sp>
        <p:nvSpPr>
          <p:cNvPr id="38" name="Text 36"/>
          <p:cNvSpPr/>
          <p:nvPr/>
        </p:nvSpPr>
        <p:spPr>
          <a:xfrm>
            <a:off x="4069080" y="704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2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27448" y="704088"/>
            <a:ext cx="715061" cy="274320"/>
          </a:xfrm>
          <a:prstGeom prst="roundRect">
            <a:avLst>
              <a:gd name="adj" fmla="val 50000"/>
            </a:avLst>
          </a:prstGeom>
          <a:solidFill>
            <a:srgbClr val="FBE3E1"/>
          </a:solidFill>
          <a:ln/>
        </p:spPr>
      </p:sp>
      <p:sp>
        <p:nvSpPr>
          <p:cNvPr id="40" name="Text 38"/>
          <p:cNvSpPr/>
          <p:nvPr/>
        </p:nvSpPr>
        <p:spPr>
          <a:xfrm>
            <a:off x="4727448" y="704088"/>
            <a:ext cx="7150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2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552237" y="704088"/>
            <a:ext cx="566928" cy="274320"/>
          </a:xfrm>
          <a:prstGeom prst="roundRect">
            <a:avLst>
              <a:gd name="adj" fmla="val 50000"/>
            </a:avLst>
          </a:prstGeom>
          <a:ln w="11430">
            <a:solidFill>
              <a:srgbClr val="D23B2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52237" y="70408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2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T+2+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326880" y="658368"/>
            <a:ext cx="1828800" cy="365760"/>
          </a:xfrm>
          <a:prstGeom prst="roundRect">
            <a:avLst>
              <a:gd name="adj" fmla="val 17500"/>
            </a:avLst>
          </a:prstGeom>
          <a:solidFill>
            <a:srgbClr val="2563EB"/>
          </a:solidFill>
          <a:ln/>
        </p:spPr>
      </p:sp>
      <p:sp>
        <p:nvSpPr>
          <p:cNvPr id="44" name="Text 42"/>
          <p:cNvSpPr/>
          <p:nvPr/>
        </p:nvSpPr>
        <p:spPr>
          <a:xfrm>
            <a:off x="9326880" y="6583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to: Ginny Weasley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461504" y="658368"/>
            <a:ext cx="17373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1430">
            <a:solidFill>
              <a:srgbClr val="D8D8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61504" y="658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◍  Ask about this allege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783080" y="1225296"/>
            <a:ext cx="9372600" cy="420624"/>
          </a:xfrm>
          <a:prstGeom prst="roundRect">
            <a:avLst>
              <a:gd name="adj" fmla="val 17391"/>
            </a:avLst>
          </a:prstGeom>
          <a:solidFill>
            <a:srgbClr val="FCFCF6"/>
          </a:solidFill>
          <a:ln w="12700">
            <a:solidFill>
              <a:srgbClr val="E4E4D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011680" y="1225296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 standing — JPMorgan Chase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394960" y="1225296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897880" y="1307592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D8F0E1"/>
          </a:solidFill>
          <a:ln/>
        </p:spPr>
      </p:sp>
      <p:sp>
        <p:nvSpPr>
          <p:cNvPr id="51" name="Text 49"/>
          <p:cNvSpPr/>
          <p:nvPr/>
        </p:nvSpPr>
        <p:spPr>
          <a:xfrm>
            <a:off x="5897880" y="1307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E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720840" y="12252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498080" y="1307592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D8F0E1"/>
          </a:solidFill>
          <a:ln/>
        </p:spPr>
      </p:sp>
      <p:sp>
        <p:nvSpPr>
          <p:cNvPr id="54" name="Text 52"/>
          <p:cNvSpPr/>
          <p:nvPr/>
        </p:nvSpPr>
        <p:spPr>
          <a:xfrm>
            <a:off x="7498080" y="1307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E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1783080" y="1810512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6" name="Text 54"/>
          <p:cNvSpPr/>
          <p:nvPr/>
        </p:nvSpPr>
        <p:spPr>
          <a:xfrm>
            <a:off x="1783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2240280" y="1792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from email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2240280" y="206654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AI-extracted fields you confirmed. Re-confirm to edit.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1783080" y="2331720"/>
            <a:ext cx="9372600" cy="2697480"/>
          </a:xfrm>
          <a:prstGeom prst="roundRect">
            <a:avLst>
              <a:gd name="adj" fmla="val 3390"/>
            </a:avLst>
          </a:prstGeom>
          <a:solidFill>
            <a:srgbClr val="FCFCF6"/>
          </a:solidFill>
          <a:ln w="12700">
            <a:solidFill>
              <a:srgbClr val="E4E4D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057400" y="24963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🗎  Confirmed fields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4114800" y="2532888"/>
            <a:ext cx="1554480" cy="237744"/>
          </a:xfrm>
          <a:prstGeom prst="roundRect">
            <a:avLst>
              <a:gd name="adj" fmla="val 50000"/>
            </a:avLst>
          </a:prstGeom>
          <a:solidFill>
            <a:srgbClr val="D8F0E1"/>
          </a:solidFill>
          <a:ln/>
        </p:spPr>
      </p:sp>
      <p:sp>
        <p:nvSpPr>
          <p:cNvPr id="62" name="Text 60"/>
          <p:cNvSpPr/>
          <p:nvPr/>
        </p:nvSpPr>
        <p:spPr>
          <a:xfrm>
            <a:off x="4114800" y="253288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E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Confirmed by analyst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9601200" y="2496312"/>
            <a:ext cx="13258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1430">
            <a:solidFill>
              <a:srgbClr val="D8D8C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601200" y="249631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 Re-confirm fields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2057400" y="2990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3246120" y="2990088"/>
            <a:ext cx="2948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JPMorgan Chase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606540" y="29900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reference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7383780" y="2990088"/>
            <a:ext cx="3497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JPM-FXS-20260410-1442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2057400" y="33101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date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3246120" y="3310128"/>
            <a:ext cx="2948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14-Apr-2026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606540" y="33101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Notional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7383780" y="3310128"/>
            <a:ext cx="3497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95000000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2057400" y="3630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pair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3246120" y="3630168"/>
            <a:ext cx="2948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EUR/USD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6606540" y="36301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7383780" y="3630168"/>
            <a:ext cx="3497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Bank Sells EUR / Buys USD near leg; reverse far leg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2057400" y="39502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type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3246120" y="3950208"/>
            <a:ext cx="2948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FX Swap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6606540" y="39502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entity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7383780" y="3950208"/>
            <a:ext cx="3497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Bank International plc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2057400" y="42702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 BIC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3246120" y="4270248"/>
            <a:ext cx="2948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CHASUS33XXX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6606540" y="42702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method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7383780" y="4270248"/>
            <a:ext cx="3497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CLS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2057400" y="4663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⌄  View original message from JPMorgan Chase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5943600" y="4690872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FBEBCE"/>
          </a:solidFill>
          <a:ln/>
        </p:spPr>
      </p:sp>
      <p:sp>
        <p:nvSpPr>
          <p:cNvPr id="87" name="Text 85"/>
          <p:cNvSpPr/>
          <p:nvPr/>
        </p:nvSpPr>
        <p:spPr>
          <a:xfrm>
            <a:off x="5943600" y="469087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B57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1783080" y="5285232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9" name="Text 87"/>
          <p:cNvSpPr/>
          <p:nvPr/>
        </p:nvSpPr>
        <p:spPr>
          <a:xfrm>
            <a:off x="1783080" y="5285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0" name="Text 88"/>
          <p:cNvSpPr/>
          <p:nvPr/>
        </p:nvSpPr>
        <p:spPr>
          <a:xfrm>
            <a:off x="2240280" y="526694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bank booking</a:t>
            </a:r>
            <a:endParaRPr lang="en-US" sz="1300" dirty="0"/>
          </a:p>
        </p:txBody>
      </p:sp>
      <p:sp>
        <p:nvSpPr>
          <p:cNvPr id="91" name="Text 89"/>
          <p:cNvSpPr/>
          <p:nvPr/>
        </p:nvSpPr>
        <p:spPr>
          <a:xfrm>
            <a:off x="2240280" y="554126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AI-matched against the bank's booking systems. Override any field below if you disagree.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1783080" y="5806440"/>
            <a:ext cx="9372600" cy="868680"/>
          </a:xfrm>
          <a:prstGeom prst="roundRect">
            <a:avLst>
              <a:gd name="adj" fmla="val 10526"/>
            </a:avLst>
          </a:prstGeom>
          <a:solidFill>
            <a:srgbClr val="FCF3DC"/>
          </a:solidFill>
          <a:ln w="12700">
            <a:solidFill>
              <a:srgbClr val="ECDCA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011680" y="5934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B573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300" dirty="0"/>
          </a:p>
        </p:txBody>
      </p:sp>
      <p:sp>
        <p:nvSpPr>
          <p:cNvPr id="94" name="Text 92"/>
          <p:cNvSpPr/>
          <p:nvPr/>
        </p:nvSpPr>
        <p:spPr>
          <a:xfrm>
            <a:off x="2331720" y="5934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field do not agree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2331720" y="6245352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FBE1E4"/>
          </a:solidFill>
          <a:ln/>
        </p:spPr>
      </p:sp>
      <p:sp>
        <p:nvSpPr>
          <p:cNvPr id="96" name="Text 94"/>
          <p:cNvSpPr/>
          <p:nvPr/>
        </p:nvSpPr>
        <p:spPr>
          <a:xfrm>
            <a:off x="2331720" y="624535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D23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3017520" y="6208776"/>
            <a:ext cx="7818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Highlighting follows the effective result (pipeline ± per-field disputes). Use </a:t>
            </a:r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not matched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a row to invert that field vs the automated outcome.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1783080" y="6858000"/>
            <a:ext cx="4549140" cy="4343400"/>
          </a:xfrm>
          <a:prstGeom prst="roundRect">
            <a:avLst>
              <a:gd name="adj" fmla="val 2105"/>
            </a:avLst>
          </a:prstGeom>
          <a:solidFill>
            <a:srgbClr val="FCFCF6"/>
          </a:solidFill>
          <a:ln w="12700">
            <a:solidFill>
              <a:srgbClr val="E4E4D6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039112" y="7040880"/>
            <a:ext cx="4091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 Submitted Details</a:t>
            </a:r>
            <a:endParaRPr lang="en-US" sz="1200" dirty="0"/>
          </a:p>
        </p:txBody>
      </p:sp>
      <p:sp>
        <p:nvSpPr>
          <p:cNvPr id="100" name="Text 98"/>
          <p:cNvSpPr/>
          <p:nvPr/>
        </p:nvSpPr>
        <p:spPr>
          <a:xfrm>
            <a:off x="2039112" y="7315200"/>
            <a:ext cx="40919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JPMorgan Chase</a:t>
            </a:r>
            <a:endParaRPr lang="en-US" sz="950" dirty="0"/>
          </a:p>
        </p:txBody>
      </p:sp>
      <p:sp>
        <p:nvSpPr>
          <p:cNvPr id="101" name="Text 99"/>
          <p:cNvSpPr/>
          <p:nvPr/>
        </p:nvSpPr>
        <p:spPr>
          <a:xfrm>
            <a:off x="2011680" y="76809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2953512" y="7708392"/>
            <a:ext cx="896112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D8D8CC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953512" y="7708392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not matched</a:t>
            </a:r>
            <a:endParaRPr lang="en-US" sz="700" dirty="0"/>
          </a:p>
        </p:txBody>
      </p:sp>
      <p:sp>
        <p:nvSpPr>
          <p:cNvPr id="104" name="Text 102"/>
          <p:cNvSpPr/>
          <p:nvPr/>
        </p:nvSpPr>
        <p:spPr>
          <a:xfrm>
            <a:off x="3931920" y="7680960"/>
            <a:ext cx="1943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JPMorgan Chase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6076188" y="77175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2A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2011680" y="80010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2971800" y="8001000"/>
            <a:ext cx="30678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JPM-FXS-20260410-1442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2011680" y="83210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Notional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2953512" y="8348472"/>
            <a:ext cx="896112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D8D8CC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953512" y="8348472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not matched</a:t>
            </a:r>
            <a:endParaRPr lang="en-US" sz="700" dirty="0"/>
          </a:p>
        </p:txBody>
      </p:sp>
      <p:sp>
        <p:nvSpPr>
          <p:cNvPr id="111" name="Text 109"/>
          <p:cNvSpPr/>
          <p:nvPr/>
        </p:nvSpPr>
        <p:spPr>
          <a:xfrm>
            <a:off x="3931920" y="8321040"/>
            <a:ext cx="1943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USD 95,000,000</a:t>
            </a:r>
            <a:endParaRPr lang="en-US" sz="800" dirty="0"/>
          </a:p>
        </p:txBody>
      </p:sp>
      <p:sp>
        <p:nvSpPr>
          <p:cNvPr id="112" name="Text 110"/>
          <p:cNvSpPr/>
          <p:nvPr/>
        </p:nvSpPr>
        <p:spPr>
          <a:xfrm>
            <a:off x="6076188" y="83576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2A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13" name="Text 111"/>
          <p:cNvSpPr/>
          <p:nvPr/>
        </p:nvSpPr>
        <p:spPr>
          <a:xfrm>
            <a:off x="2011680" y="86410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/ Price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2953512" y="8677656"/>
            <a:ext cx="658368" cy="201168"/>
          </a:xfrm>
          <a:prstGeom prst="roundRect">
            <a:avLst>
              <a:gd name="adj" fmla="val 50000"/>
            </a:avLst>
          </a:prstGeom>
          <a:solidFill>
            <a:srgbClr val="FBE3E1"/>
          </a:solidFill>
          <a:ln/>
        </p:spPr>
      </p:sp>
      <p:sp>
        <p:nvSpPr>
          <p:cNvPr id="115" name="Text 113"/>
          <p:cNvSpPr/>
          <p:nvPr/>
        </p:nvSpPr>
        <p:spPr>
          <a:xfrm>
            <a:off x="2953512" y="867765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D2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</a:t>
            </a:r>
            <a:endParaRPr lang="en-US" sz="700" dirty="0"/>
          </a:p>
        </p:txBody>
      </p:sp>
      <p:sp>
        <p:nvSpPr>
          <p:cNvPr id="116" name="Shape 114"/>
          <p:cNvSpPr/>
          <p:nvPr/>
        </p:nvSpPr>
        <p:spPr>
          <a:xfrm>
            <a:off x="3666744" y="8677656"/>
            <a:ext cx="786384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D8D8CC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666744" y="8677656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matched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5472684" y="8659368"/>
            <a:ext cx="566928" cy="237744"/>
          </a:xfrm>
          <a:prstGeom prst="roundRect">
            <a:avLst>
              <a:gd name="adj" fmla="val 19231"/>
            </a:avLst>
          </a:prstGeom>
          <a:solidFill>
            <a:srgbClr val="FCEDED"/>
          </a:solidFill>
          <a:ln w="11430">
            <a:solidFill>
              <a:srgbClr val="EEB4B4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472684" y="865936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D2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1.085</a:t>
            </a:r>
            <a:endParaRPr lang="en-US" sz="850" dirty="0"/>
          </a:p>
        </p:txBody>
      </p:sp>
      <p:sp>
        <p:nvSpPr>
          <p:cNvPr id="120" name="Text 118"/>
          <p:cNvSpPr/>
          <p:nvPr/>
        </p:nvSpPr>
        <p:spPr>
          <a:xfrm>
            <a:off x="2011680" y="89611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Method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2953512" y="8988552"/>
            <a:ext cx="896112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D8D8CC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2953512" y="8988552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not matched</a:t>
            </a:r>
            <a:endParaRPr lang="en-US" sz="700" dirty="0"/>
          </a:p>
        </p:txBody>
      </p:sp>
      <p:sp>
        <p:nvSpPr>
          <p:cNvPr id="123" name="Text 121"/>
          <p:cNvSpPr/>
          <p:nvPr/>
        </p:nvSpPr>
        <p:spPr>
          <a:xfrm>
            <a:off x="3931920" y="8961120"/>
            <a:ext cx="1943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CLS</a:t>
            </a:r>
            <a:endParaRPr lang="en-US" sz="800" dirty="0"/>
          </a:p>
        </p:txBody>
      </p:sp>
      <p:sp>
        <p:nvSpPr>
          <p:cNvPr id="124" name="Text 122"/>
          <p:cNvSpPr/>
          <p:nvPr/>
        </p:nvSpPr>
        <p:spPr>
          <a:xfrm>
            <a:off x="6076188" y="8997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2A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25" name="Text 123"/>
          <p:cNvSpPr/>
          <p:nvPr/>
        </p:nvSpPr>
        <p:spPr>
          <a:xfrm>
            <a:off x="2011680" y="92811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 Code</a:t>
            </a:r>
            <a:endParaRPr lang="en-US" sz="850" dirty="0"/>
          </a:p>
        </p:txBody>
      </p:sp>
      <p:sp>
        <p:nvSpPr>
          <p:cNvPr id="126" name="Shape 124"/>
          <p:cNvSpPr/>
          <p:nvPr/>
        </p:nvSpPr>
        <p:spPr>
          <a:xfrm>
            <a:off x="2953512" y="9308592"/>
            <a:ext cx="896112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D8D8CC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2953512" y="9308592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not matched</a:t>
            </a:r>
            <a:endParaRPr lang="en-US" sz="700" dirty="0"/>
          </a:p>
        </p:txBody>
      </p:sp>
      <p:sp>
        <p:nvSpPr>
          <p:cNvPr id="128" name="Text 126"/>
          <p:cNvSpPr/>
          <p:nvPr/>
        </p:nvSpPr>
        <p:spPr>
          <a:xfrm>
            <a:off x="3931920" y="9281160"/>
            <a:ext cx="1943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CHASUS33XXX</a:t>
            </a:r>
            <a:endParaRPr lang="en-US" sz="800" dirty="0"/>
          </a:p>
        </p:txBody>
      </p:sp>
      <p:sp>
        <p:nvSpPr>
          <p:cNvPr id="129" name="Text 127"/>
          <p:cNvSpPr/>
          <p:nvPr/>
        </p:nvSpPr>
        <p:spPr>
          <a:xfrm>
            <a:off x="6076188" y="93177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2A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2011680" y="96012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Date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2953512" y="9628632"/>
            <a:ext cx="896112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D8D8CC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2953512" y="9628632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not matched</a:t>
            </a:r>
            <a:endParaRPr lang="en-US" sz="700" dirty="0"/>
          </a:p>
        </p:txBody>
      </p:sp>
      <p:sp>
        <p:nvSpPr>
          <p:cNvPr id="133" name="Text 131"/>
          <p:cNvSpPr/>
          <p:nvPr/>
        </p:nvSpPr>
        <p:spPr>
          <a:xfrm>
            <a:off x="3931920" y="9601200"/>
            <a:ext cx="1943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14-Apr-2026</a:t>
            </a:r>
            <a:endParaRPr lang="en-US" sz="800" dirty="0"/>
          </a:p>
        </p:txBody>
      </p:sp>
      <p:sp>
        <p:nvSpPr>
          <p:cNvPr id="134" name="Text 132"/>
          <p:cNvSpPr/>
          <p:nvPr/>
        </p:nvSpPr>
        <p:spPr>
          <a:xfrm>
            <a:off x="6076188" y="9637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2A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35" name="Text 133"/>
          <p:cNvSpPr/>
          <p:nvPr/>
        </p:nvSpPr>
        <p:spPr>
          <a:xfrm>
            <a:off x="2011680" y="99212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Type</a:t>
            </a:r>
            <a:endParaRPr lang="en-US" sz="850" dirty="0"/>
          </a:p>
        </p:txBody>
      </p:sp>
      <p:sp>
        <p:nvSpPr>
          <p:cNvPr id="136" name="Shape 134"/>
          <p:cNvSpPr/>
          <p:nvPr/>
        </p:nvSpPr>
        <p:spPr>
          <a:xfrm>
            <a:off x="2953512" y="9948672"/>
            <a:ext cx="896112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D8D8CC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2953512" y="9948672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not matched</a:t>
            </a:r>
            <a:endParaRPr lang="en-US" sz="700" dirty="0"/>
          </a:p>
        </p:txBody>
      </p:sp>
      <p:sp>
        <p:nvSpPr>
          <p:cNvPr id="138" name="Text 136"/>
          <p:cNvSpPr/>
          <p:nvPr/>
        </p:nvSpPr>
        <p:spPr>
          <a:xfrm>
            <a:off x="3931920" y="9921240"/>
            <a:ext cx="1943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FX Swap</a:t>
            </a:r>
            <a:endParaRPr lang="en-US" sz="800" dirty="0"/>
          </a:p>
        </p:txBody>
      </p:sp>
      <p:sp>
        <p:nvSpPr>
          <p:cNvPr id="139" name="Text 137"/>
          <p:cNvSpPr/>
          <p:nvPr/>
        </p:nvSpPr>
        <p:spPr>
          <a:xfrm>
            <a:off x="6076188" y="99578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2A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40" name="Text 138"/>
          <p:cNvSpPr/>
          <p:nvPr/>
        </p:nvSpPr>
        <p:spPr>
          <a:xfrm>
            <a:off x="2011680" y="102412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850" dirty="0"/>
          </a:p>
        </p:txBody>
      </p:sp>
      <p:sp>
        <p:nvSpPr>
          <p:cNvPr id="141" name="Text 139"/>
          <p:cNvSpPr/>
          <p:nvPr/>
        </p:nvSpPr>
        <p:spPr>
          <a:xfrm>
            <a:off x="3017520" y="10241280"/>
            <a:ext cx="2857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Bank Sells EUR / Buys USD near leg; reverse far leg</a:t>
            </a:r>
            <a:endParaRPr lang="en-US" sz="750" dirty="0"/>
          </a:p>
        </p:txBody>
      </p:sp>
      <p:sp>
        <p:nvSpPr>
          <p:cNvPr id="142" name="Shape 140"/>
          <p:cNvSpPr/>
          <p:nvPr/>
        </p:nvSpPr>
        <p:spPr>
          <a:xfrm>
            <a:off x="2011680" y="10460736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8D8CC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2011680" y="104607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not matched</a:t>
            </a:r>
            <a:endParaRPr lang="en-US" sz="700" dirty="0"/>
          </a:p>
        </p:txBody>
      </p:sp>
      <p:sp>
        <p:nvSpPr>
          <p:cNvPr id="144" name="Text 142"/>
          <p:cNvSpPr/>
          <p:nvPr/>
        </p:nvSpPr>
        <p:spPr>
          <a:xfrm>
            <a:off x="6076188" y="102778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2A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2011680" y="107167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Entity</a:t>
            </a:r>
            <a:endParaRPr lang="en-US" sz="850" dirty="0"/>
          </a:p>
        </p:txBody>
      </p:sp>
      <p:sp>
        <p:nvSpPr>
          <p:cNvPr id="146" name="Shape 144"/>
          <p:cNvSpPr/>
          <p:nvPr/>
        </p:nvSpPr>
        <p:spPr>
          <a:xfrm>
            <a:off x="2953512" y="10744200"/>
            <a:ext cx="896112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D8D8CC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2953512" y="10744200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not matched</a:t>
            </a:r>
            <a:endParaRPr lang="en-US" sz="700" dirty="0"/>
          </a:p>
        </p:txBody>
      </p:sp>
      <p:sp>
        <p:nvSpPr>
          <p:cNvPr id="148" name="Text 146"/>
          <p:cNvSpPr/>
          <p:nvPr/>
        </p:nvSpPr>
        <p:spPr>
          <a:xfrm>
            <a:off x="3931920" y="10716768"/>
            <a:ext cx="1943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Bank International plc</a:t>
            </a:r>
            <a:endParaRPr lang="en-US" sz="800" dirty="0"/>
          </a:p>
        </p:txBody>
      </p:sp>
      <p:sp>
        <p:nvSpPr>
          <p:cNvPr id="149" name="Text 147"/>
          <p:cNvSpPr/>
          <p:nvPr/>
        </p:nvSpPr>
        <p:spPr>
          <a:xfrm>
            <a:off x="6076188" y="107533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2A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50" name="Shape 148"/>
          <p:cNvSpPr/>
          <p:nvPr/>
        </p:nvSpPr>
        <p:spPr>
          <a:xfrm>
            <a:off x="6606540" y="6858000"/>
            <a:ext cx="4549140" cy="4343400"/>
          </a:xfrm>
          <a:prstGeom prst="roundRect">
            <a:avLst>
              <a:gd name="adj" fmla="val 2105"/>
            </a:avLst>
          </a:prstGeom>
          <a:solidFill>
            <a:srgbClr val="FCFCF6"/>
          </a:solidFill>
          <a:ln w="12700">
            <a:solidFill>
              <a:srgbClr val="E4E4D6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6862572" y="7040880"/>
            <a:ext cx="4091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Booked Details (Matched in System 5)</a:t>
            </a:r>
            <a:endParaRPr lang="en-US" sz="1200" dirty="0"/>
          </a:p>
        </p:txBody>
      </p:sp>
      <p:sp>
        <p:nvSpPr>
          <p:cNvPr id="152" name="Text 150"/>
          <p:cNvSpPr/>
          <p:nvPr/>
        </p:nvSpPr>
        <p:spPr>
          <a:xfrm>
            <a:off x="6862572" y="7315200"/>
            <a:ext cx="40919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International plc</a:t>
            </a:r>
            <a:endParaRPr lang="en-US" sz="950" dirty="0"/>
          </a:p>
        </p:txBody>
      </p:sp>
      <p:sp>
        <p:nvSpPr>
          <p:cNvPr id="153" name="Text 151"/>
          <p:cNvSpPr/>
          <p:nvPr/>
        </p:nvSpPr>
        <p:spPr>
          <a:xfrm>
            <a:off x="6835140" y="76809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</a:t>
            </a:r>
            <a:endParaRPr lang="en-US" sz="850" dirty="0"/>
          </a:p>
        </p:txBody>
      </p:sp>
      <p:sp>
        <p:nvSpPr>
          <p:cNvPr id="154" name="Shape 152"/>
          <p:cNvSpPr/>
          <p:nvPr/>
        </p:nvSpPr>
        <p:spPr>
          <a:xfrm>
            <a:off x="7776972" y="7708392"/>
            <a:ext cx="896112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D8D8CC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7776972" y="7708392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not matched</a:t>
            </a:r>
            <a:endParaRPr lang="en-US" sz="700" dirty="0"/>
          </a:p>
        </p:txBody>
      </p:sp>
      <p:sp>
        <p:nvSpPr>
          <p:cNvPr id="156" name="Text 154"/>
          <p:cNvSpPr/>
          <p:nvPr/>
        </p:nvSpPr>
        <p:spPr>
          <a:xfrm>
            <a:off x="8755380" y="7680960"/>
            <a:ext cx="1943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JPMorgan Chase</a:t>
            </a:r>
            <a:endParaRPr lang="en-US" sz="800" dirty="0"/>
          </a:p>
        </p:txBody>
      </p:sp>
      <p:sp>
        <p:nvSpPr>
          <p:cNvPr id="157" name="Text 155"/>
          <p:cNvSpPr/>
          <p:nvPr/>
        </p:nvSpPr>
        <p:spPr>
          <a:xfrm>
            <a:off x="10899648" y="77175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2A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58" name="Text 156"/>
          <p:cNvSpPr/>
          <p:nvPr/>
        </p:nvSpPr>
        <p:spPr>
          <a:xfrm>
            <a:off x="6835140" y="80010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850" dirty="0"/>
          </a:p>
        </p:txBody>
      </p:sp>
      <p:sp>
        <p:nvSpPr>
          <p:cNvPr id="159" name="Text 157"/>
          <p:cNvSpPr/>
          <p:nvPr/>
        </p:nvSpPr>
        <p:spPr>
          <a:xfrm>
            <a:off x="7795260" y="8001000"/>
            <a:ext cx="30678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BNK-FXS-20260410-0147</a:t>
            </a:r>
            <a:endParaRPr lang="en-US" sz="800" dirty="0"/>
          </a:p>
        </p:txBody>
      </p:sp>
      <p:sp>
        <p:nvSpPr>
          <p:cNvPr id="160" name="Text 158"/>
          <p:cNvSpPr/>
          <p:nvPr/>
        </p:nvSpPr>
        <p:spPr>
          <a:xfrm>
            <a:off x="6835140" y="83210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Notional</a:t>
            </a:r>
            <a:endParaRPr lang="en-US" sz="850" dirty="0"/>
          </a:p>
        </p:txBody>
      </p:sp>
      <p:sp>
        <p:nvSpPr>
          <p:cNvPr id="161" name="Shape 159"/>
          <p:cNvSpPr/>
          <p:nvPr/>
        </p:nvSpPr>
        <p:spPr>
          <a:xfrm>
            <a:off x="7776972" y="8348472"/>
            <a:ext cx="896112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D8D8CC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7776972" y="8348472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not matched</a:t>
            </a:r>
            <a:endParaRPr lang="en-US" sz="700" dirty="0"/>
          </a:p>
        </p:txBody>
      </p:sp>
      <p:sp>
        <p:nvSpPr>
          <p:cNvPr id="163" name="Text 161"/>
          <p:cNvSpPr/>
          <p:nvPr/>
        </p:nvSpPr>
        <p:spPr>
          <a:xfrm>
            <a:off x="8755380" y="8321040"/>
            <a:ext cx="1943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USD 95,000,000</a:t>
            </a:r>
            <a:endParaRPr lang="en-US" sz="800" dirty="0"/>
          </a:p>
        </p:txBody>
      </p:sp>
      <p:sp>
        <p:nvSpPr>
          <p:cNvPr id="164" name="Text 162"/>
          <p:cNvSpPr/>
          <p:nvPr/>
        </p:nvSpPr>
        <p:spPr>
          <a:xfrm>
            <a:off x="10899648" y="83576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2A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5" name="Text 163"/>
          <p:cNvSpPr/>
          <p:nvPr/>
        </p:nvSpPr>
        <p:spPr>
          <a:xfrm>
            <a:off x="6835140" y="86410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/ Price</a:t>
            </a:r>
            <a:endParaRPr lang="en-US" sz="850" dirty="0"/>
          </a:p>
        </p:txBody>
      </p:sp>
      <p:sp>
        <p:nvSpPr>
          <p:cNvPr id="166" name="Shape 164"/>
          <p:cNvSpPr/>
          <p:nvPr/>
        </p:nvSpPr>
        <p:spPr>
          <a:xfrm>
            <a:off x="7776972" y="8677656"/>
            <a:ext cx="658368" cy="201168"/>
          </a:xfrm>
          <a:prstGeom prst="roundRect">
            <a:avLst>
              <a:gd name="adj" fmla="val 50000"/>
            </a:avLst>
          </a:prstGeom>
          <a:solidFill>
            <a:srgbClr val="FBE3E1"/>
          </a:solidFill>
          <a:ln/>
        </p:spPr>
      </p:sp>
      <p:sp>
        <p:nvSpPr>
          <p:cNvPr id="167" name="Text 165"/>
          <p:cNvSpPr/>
          <p:nvPr/>
        </p:nvSpPr>
        <p:spPr>
          <a:xfrm>
            <a:off x="7776972" y="867765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D2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</a:t>
            </a:r>
            <a:endParaRPr lang="en-US" sz="700" dirty="0"/>
          </a:p>
        </p:txBody>
      </p:sp>
      <p:sp>
        <p:nvSpPr>
          <p:cNvPr id="168" name="Shape 166"/>
          <p:cNvSpPr/>
          <p:nvPr/>
        </p:nvSpPr>
        <p:spPr>
          <a:xfrm>
            <a:off x="8490204" y="8677656"/>
            <a:ext cx="786384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D8D8CC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8490204" y="8677656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matched</a:t>
            </a:r>
            <a:endParaRPr lang="en-US" sz="700" dirty="0"/>
          </a:p>
        </p:txBody>
      </p:sp>
      <p:sp>
        <p:nvSpPr>
          <p:cNvPr id="170" name="Shape 168"/>
          <p:cNvSpPr/>
          <p:nvPr/>
        </p:nvSpPr>
        <p:spPr>
          <a:xfrm>
            <a:off x="10296144" y="8659368"/>
            <a:ext cx="566928" cy="237744"/>
          </a:xfrm>
          <a:prstGeom prst="roundRect">
            <a:avLst>
              <a:gd name="adj" fmla="val 19231"/>
            </a:avLst>
          </a:prstGeom>
          <a:solidFill>
            <a:srgbClr val="FCEDED"/>
          </a:solidFill>
          <a:ln w="11430">
            <a:solidFill>
              <a:srgbClr val="EEB4B4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10296144" y="865936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D2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1.0852</a:t>
            </a:r>
            <a:endParaRPr lang="en-US" sz="850" dirty="0"/>
          </a:p>
        </p:txBody>
      </p:sp>
      <p:sp>
        <p:nvSpPr>
          <p:cNvPr id="172" name="Text 170"/>
          <p:cNvSpPr/>
          <p:nvPr/>
        </p:nvSpPr>
        <p:spPr>
          <a:xfrm>
            <a:off x="6835140" y="89611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Method</a:t>
            </a:r>
            <a:endParaRPr lang="en-US" sz="850" dirty="0"/>
          </a:p>
        </p:txBody>
      </p:sp>
      <p:sp>
        <p:nvSpPr>
          <p:cNvPr id="173" name="Shape 171"/>
          <p:cNvSpPr/>
          <p:nvPr/>
        </p:nvSpPr>
        <p:spPr>
          <a:xfrm>
            <a:off x="7776972" y="8988552"/>
            <a:ext cx="896112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D8D8CC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7776972" y="8988552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not matched</a:t>
            </a:r>
            <a:endParaRPr lang="en-US" sz="700" dirty="0"/>
          </a:p>
        </p:txBody>
      </p:sp>
      <p:sp>
        <p:nvSpPr>
          <p:cNvPr id="175" name="Text 173"/>
          <p:cNvSpPr/>
          <p:nvPr/>
        </p:nvSpPr>
        <p:spPr>
          <a:xfrm>
            <a:off x="8755380" y="8961120"/>
            <a:ext cx="1943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CLS</a:t>
            </a:r>
            <a:endParaRPr lang="en-US" sz="800" dirty="0"/>
          </a:p>
        </p:txBody>
      </p:sp>
      <p:sp>
        <p:nvSpPr>
          <p:cNvPr id="176" name="Text 174"/>
          <p:cNvSpPr/>
          <p:nvPr/>
        </p:nvSpPr>
        <p:spPr>
          <a:xfrm>
            <a:off x="10899648" y="8997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2A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77" name="Text 175"/>
          <p:cNvSpPr/>
          <p:nvPr/>
        </p:nvSpPr>
        <p:spPr>
          <a:xfrm>
            <a:off x="6835140" y="92811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 Code</a:t>
            </a:r>
            <a:endParaRPr lang="en-US" sz="850" dirty="0"/>
          </a:p>
        </p:txBody>
      </p:sp>
      <p:sp>
        <p:nvSpPr>
          <p:cNvPr id="178" name="Shape 176"/>
          <p:cNvSpPr/>
          <p:nvPr/>
        </p:nvSpPr>
        <p:spPr>
          <a:xfrm>
            <a:off x="7776972" y="9308592"/>
            <a:ext cx="896112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D8D8CC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7776972" y="9308592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not matched</a:t>
            </a:r>
            <a:endParaRPr lang="en-US" sz="700" dirty="0"/>
          </a:p>
        </p:txBody>
      </p:sp>
      <p:sp>
        <p:nvSpPr>
          <p:cNvPr id="180" name="Text 178"/>
          <p:cNvSpPr/>
          <p:nvPr/>
        </p:nvSpPr>
        <p:spPr>
          <a:xfrm>
            <a:off x="8755380" y="9281160"/>
            <a:ext cx="1943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BANKGB2LXXX</a:t>
            </a:r>
            <a:endParaRPr lang="en-US" sz="800" dirty="0"/>
          </a:p>
        </p:txBody>
      </p:sp>
      <p:sp>
        <p:nvSpPr>
          <p:cNvPr id="181" name="Text 179"/>
          <p:cNvSpPr/>
          <p:nvPr/>
        </p:nvSpPr>
        <p:spPr>
          <a:xfrm>
            <a:off x="10899648" y="93177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2A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82" name="Text 180"/>
          <p:cNvSpPr/>
          <p:nvPr/>
        </p:nvSpPr>
        <p:spPr>
          <a:xfrm>
            <a:off x="6835140" y="96012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Date</a:t>
            </a:r>
            <a:endParaRPr lang="en-US" sz="850" dirty="0"/>
          </a:p>
        </p:txBody>
      </p:sp>
      <p:sp>
        <p:nvSpPr>
          <p:cNvPr id="183" name="Shape 181"/>
          <p:cNvSpPr/>
          <p:nvPr/>
        </p:nvSpPr>
        <p:spPr>
          <a:xfrm>
            <a:off x="7776972" y="9628632"/>
            <a:ext cx="896112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D8D8CC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7776972" y="9628632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not matched</a:t>
            </a:r>
            <a:endParaRPr lang="en-US" sz="700" dirty="0"/>
          </a:p>
        </p:txBody>
      </p:sp>
      <p:sp>
        <p:nvSpPr>
          <p:cNvPr id="185" name="Text 183"/>
          <p:cNvSpPr/>
          <p:nvPr/>
        </p:nvSpPr>
        <p:spPr>
          <a:xfrm>
            <a:off x="8755380" y="9601200"/>
            <a:ext cx="1943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14-Apr-2026</a:t>
            </a:r>
            <a:endParaRPr lang="en-US" sz="800" dirty="0"/>
          </a:p>
        </p:txBody>
      </p:sp>
      <p:sp>
        <p:nvSpPr>
          <p:cNvPr id="186" name="Text 184"/>
          <p:cNvSpPr/>
          <p:nvPr/>
        </p:nvSpPr>
        <p:spPr>
          <a:xfrm>
            <a:off x="10899648" y="9637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2A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87" name="Text 185"/>
          <p:cNvSpPr/>
          <p:nvPr/>
        </p:nvSpPr>
        <p:spPr>
          <a:xfrm>
            <a:off x="6835140" y="99212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Type</a:t>
            </a:r>
            <a:endParaRPr lang="en-US" sz="850" dirty="0"/>
          </a:p>
        </p:txBody>
      </p:sp>
      <p:sp>
        <p:nvSpPr>
          <p:cNvPr id="188" name="Shape 186"/>
          <p:cNvSpPr/>
          <p:nvPr/>
        </p:nvSpPr>
        <p:spPr>
          <a:xfrm>
            <a:off x="7776972" y="9948672"/>
            <a:ext cx="896112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D8D8CC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7776972" y="9948672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not matched</a:t>
            </a:r>
            <a:endParaRPr lang="en-US" sz="700" dirty="0"/>
          </a:p>
        </p:txBody>
      </p:sp>
      <p:sp>
        <p:nvSpPr>
          <p:cNvPr id="190" name="Text 188"/>
          <p:cNvSpPr/>
          <p:nvPr/>
        </p:nvSpPr>
        <p:spPr>
          <a:xfrm>
            <a:off x="8755380" y="9921240"/>
            <a:ext cx="1943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FX Swap</a:t>
            </a:r>
            <a:endParaRPr lang="en-US" sz="800" dirty="0"/>
          </a:p>
        </p:txBody>
      </p:sp>
      <p:sp>
        <p:nvSpPr>
          <p:cNvPr id="191" name="Text 189"/>
          <p:cNvSpPr/>
          <p:nvPr/>
        </p:nvSpPr>
        <p:spPr>
          <a:xfrm>
            <a:off x="10899648" y="99578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2A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92" name="Text 190"/>
          <p:cNvSpPr/>
          <p:nvPr/>
        </p:nvSpPr>
        <p:spPr>
          <a:xfrm>
            <a:off x="6835140" y="102412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850" dirty="0"/>
          </a:p>
        </p:txBody>
      </p:sp>
      <p:sp>
        <p:nvSpPr>
          <p:cNvPr id="193" name="Text 191"/>
          <p:cNvSpPr/>
          <p:nvPr/>
        </p:nvSpPr>
        <p:spPr>
          <a:xfrm>
            <a:off x="7840980" y="10241280"/>
            <a:ext cx="2857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Bank Sells EUR / Buys USD near leg; reverse far leg</a:t>
            </a:r>
            <a:endParaRPr lang="en-US" sz="750" dirty="0"/>
          </a:p>
        </p:txBody>
      </p:sp>
      <p:sp>
        <p:nvSpPr>
          <p:cNvPr id="194" name="Shape 192"/>
          <p:cNvSpPr/>
          <p:nvPr/>
        </p:nvSpPr>
        <p:spPr>
          <a:xfrm>
            <a:off x="6835140" y="10460736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8D8CC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6835140" y="104607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not matched</a:t>
            </a:r>
            <a:endParaRPr lang="en-US" sz="700" dirty="0"/>
          </a:p>
        </p:txBody>
      </p:sp>
      <p:sp>
        <p:nvSpPr>
          <p:cNvPr id="196" name="Text 194"/>
          <p:cNvSpPr/>
          <p:nvPr/>
        </p:nvSpPr>
        <p:spPr>
          <a:xfrm>
            <a:off x="10899648" y="102778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2A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97" name="Text 195"/>
          <p:cNvSpPr/>
          <p:nvPr/>
        </p:nvSpPr>
        <p:spPr>
          <a:xfrm>
            <a:off x="6835140" y="107167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Entity</a:t>
            </a:r>
            <a:endParaRPr lang="en-US" sz="850" dirty="0"/>
          </a:p>
        </p:txBody>
      </p:sp>
      <p:sp>
        <p:nvSpPr>
          <p:cNvPr id="198" name="Shape 196"/>
          <p:cNvSpPr/>
          <p:nvPr/>
        </p:nvSpPr>
        <p:spPr>
          <a:xfrm>
            <a:off x="7776972" y="10744200"/>
            <a:ext cx="896112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D8D8CC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7776972" y="10744200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not matched</a:t>
            </a:r>
            <a:endParaRPr lang="en-US" sz="700" dirty="0"/>
          </a:p>
        </p:txBody>
      </p:sp>
      <p:sp>
        <p:nvSpPr>
          <p:cNvPr id="200" name="Text 198"/>
          <p:cNvSpPr/>
          <p:nvPr/>
        </p:nvSpPr>
        <p:spPr>
          <a:xfrm>
            <a:off x="8755380" y="10716768"/>
            <a:ext cx="1943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Bank International plc</a:t>
            </a:r>
            <a:endParaRPr lang="en-US" sz="800" dirty="0"/>
          </a:p>
        </p:txBody>
      </p:sp>
      <p:sp>
        <p:nvSpPr>
          <p:cNvPr id="201" name="Text 199"/>
          <p:cNvSpPr/>
          <p:nvPr/>
        </p:nvSpPr>
        <p:spPr>
          <a:xfrm>
            <a:off x="10899648" y="107533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2A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02" name="Shape 200"/>
          <p:cNvSpPr/>
          <p:nvPr/>
        </p:nvSpPr>
        <p:spPr>
          <a:xfrm>
            <a:off x="1783080" y="11384280"/>
            <a:ext cx="9372600" cy="658368"/>
          </a:xfrm>
          <a:prstGeom prst="roundRect">
            <a:avLst>
              <a:gd name="adj" fmla="val 13889"/>
            </a:avLst>
          </a:prstGeom>
          <a:solidFill>
            <a:srgbClr val="FCFCF6"/>
          </a:solidFill>
          <a:ln w="12700">
            <a:solidFill>
              <a:srgbClr val="E4E4D6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2103120" y="11567160"/>
            <a:ext cx="155448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D8D8CC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2103120" y="115671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disputes &amp; override</a:t>
            </a:r>
            <a:endParaRPr lang="en-US" sz="900" dirty="0"/>
          </a:p>
        </p:txBody>
      </p:sp>
      <p:sp>
        <p:nvSpPr>
          <p:cNvPr id="205" name="Shape 203"/>
          <p:cNvSpPr/>
          <p:nvPr/>
        </p:nvSpPr>
        <p:spPr>
          <a:xfrm>
            <a:off x="3794760" y="11567160"/>
            <a:ext cx="182880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D8D8CC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3794760" y="115671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as no booking match</a:t>
            </a:r>
            <a:endParaRPr lang="en-US" sz="900" dirty="0"/>
          </a:p>
        </p:txBody>
      </p:sp>
      <p:sp>
        <p:nvSpPr>
          <p:cNvPr id="207" name="Shape 205"/>
          <p:cNvSpPr/>
          <p:nvPr/>
        </p:nvSpPr>
        <p:spPr>
          <a:xfrm>
            <a:off x="5760720" y="11567160"/>
            <a:ext cx="1874520" cy="310896"/>
          </a:xfrm>
          <a:prstGeom prst="roundRect">
            <a:avLst>
              <a:gd name="adj" fmla="val 17647"/>
            </a:avLst>
          </a:prstGeom>
          <a:solidFill>
            <a:srgbClr val="E23B2E"/>
          </a:solidFill>
          <a:ln/>
        </p:spPr>
      </p:sp>
      <p:sp>
        <p:nvSpPr>
          <p:cNvPr id="208" name="Text 206"/>
          <p:cNvSpPr/>
          <p:nvPr/>
        </p:nvSpPr>
        <p:spPr>
          <a:xfrm>
            <a:off x="5760720" y="1156716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analyst match review</a:t>
            </a:r>
            <a:endParaRPr lang="en-US" sz="900" dirty="0"/>
          </a:p>
        </p:txBody>
      </p:sp>
      <p:sp>
        <p:nvSpPr>
          <p:cNvPr id="209" name="Shape 207"/>
          <p:cNvSpPr/>
          <p:nvPr/>
        </p:nvSpPr>
        <p:spPr>
          <a:xfrm>
            <a:off x="1783080" y="12298680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0" name="Text 208"/>
          <p:cNvSpPr/>
          <p:nvPr/>
        </p:nvSpPr>
        <p:spPr>
          <a:xfrm>
            <a:off x="1783080" y="12298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1" name="Text 209"/>
          <p:cNvSpPr/>
          <p:nvPr/>
        </p:nvSpPr>
        <p:spPr>
          <a:xfrm>
            <a:off x="2240280" y="12280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next action</a:t>
            </a:r>
            <a:endParaRPr lang="en-US" sz="1300" dirty="0"/>
          </a:p>
        </p:txBody>
      </p:sp>
      <p:sp>
        <p:nvSpPr>
          <p:cNvPr id="212" name="Text 210"/>
          <p:cNvSpPr/>
          <p:nvPr/>
        </p:nvSpPr>
        <p:spPr>
          <a:xfrm>
            <a:off x="2240280" y="125547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has suggested one of the actions below. Click any card to open its draft, then review and approve in the dialog.</a:t>
            </a:r>
            <a:endParaRPr lang="en-US" sz="950" dirty="0"/>
          </a:p>
        </p:txBody>
      </p:sp>
      <p:sp>
        <p:nvSpPr>
          <p:cNvPr id="213" name="Shape 211"/>
          <p:cNvSpPr/>
          <p:nvPr/>
        </p:nvSpPr>
        <p:spPr>
          <a:xfrm>
            <a:off x="1783080" y="12865608"/>
            <a:ext cx="9372600" cy="640080"/>
          </a:xfrm>
          <a:prstGeom prst="roundRect">
            <a:avLst>
              <a:gd name="adj" fmla="val 14286"/>
            </a:avLst>
          </a:prstGeom>
          <a:solidFill>
            <a:srgbClr val="FCFCF6"/>
          </a:solidFill>
          <a:ln w="12700">
            <a:solidFill>
              <a:srgbClr val="E4E4D6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2103120" y="12865608"/>
            <a:ext cx="8732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comparison in </a:t>
            </a:r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click </a:t>
            </a:r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analyst match review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unlock the suggested actions.</a:t>
            </a:r>
            <a:endParaRPr lang="en-US" sz="1000" dirty="0"/>
          </a:p>
        </p:txBody>
      </p:sp>
      <p:sp>
        <p:nvSpPr>
          <p:cNvPr id="215" name="Shape 213"/>
          <p:cNvSpPr/>
          <p:nvPr/>
        </p:nvSpPr>
        <p:spPr>
          <a:xfrm>
            <a:off x="1783080" y="13761720"/>
            <a:ext cx="9372600" cy="3383280"/>
          </a:xfrm>
          <a:prstGeom prst="roundRect">
            <a:avLst>
              <a:gd name="adj" fmla="val 2703"/>
            </a:avLst>
          </a:prstGeom>
          <a:solidFill>
            <a:srgbClr val="FCFCF6"/>
          </a:solidFill>
          <a:ln w="12700">
            <a:solidFill>
              <a:srgbClr val="E4E4D6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2057400" y="1394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🗒  Case audit timeline</a:t>
            </a:r>
            <a:endParaRPr lang="en-US" sz="1200" dirty="0"/>
          </a:p>
        </p:txBody>
      </p:sp>
      <p:sp>
        <p:nvSpPr>
          <p:cNvPr id="217" name="Text 215"/>
          <p:cNvSpPr/>
          <p:nvPr/>
        </p:nvSpPr>
        <p:spPr>
          <a:xfrm>
            <a:off x="2057400" y="142189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and analyst actions for this allege — most recent first.</a:t>
            </a:r>
            <a:endParaRPr lang="en-US" sz="950" dirty="0"/>
          </a:p>
        </p:txBody>
      </p:sp>
      <p:sp>
        <p:nvSpPr>
          <p:cNvPr id="218" name="Shape 216"/>
          <p:cNvSpPr/>
          <p:nvPr/>
        </p:nvSpPr>
        <p:spPr>
          <a:xfrm>
            <a:off x="2103120" y="14657832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9" name="Text 217"/>
          <p:cNvSpPr/>
          <p:nvPr/>
        </p:nvSpPr>
        <p:spPr>
          <a:xfrm>
            <a:off x="2267712" y="1461211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1000" dirty="0"/>
          </a:p>
        </p:txBody>
      </p:sp>
      <p:sp>
        <p:nvSpPr>
          <p:cNvPr id="220" name="Text 218"/>
          <p:cNvSpPr/>
          <p:nvPr/>
        </p:nvSpPr>
        <p:spPr>
          <a:xfrm>
            <a:off x="2514600" y="146121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to Ginny Weasley</a:t>
            </a:r>
            <a:endParaRPr lang="en-US" sz="1000" dirty="0"/>
          </a:p>
        </p:txBody>
      </p:sp>
      <p:sp>
        <p:nvSpPr>
          <p:cNvPr id="221" name="Shape 219"/>
          <p:cNvSpPr/>
          <p:nvPr/>
        </p:nvSpPr>
        <p:spPr>
          <a:xfrm>
            <a:off x="4846320" y="14630400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DCE7FB"/>
          </a:solidFill>
          <a:ln/>
        </p:spPr>
      </p:sp>
      <p:sp>
        <p:nvSpPr>
          <p:cNvPr id="222" name="Text 220"/>
          <p:cNvSpPr/>
          <p:nvPr/>
        </p:nvSpPr>
        <p:spPr>
          <a:xfrm>
            <a:off x="4846320" y="146304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700" dirty="0"/>
          </a:p>
        </p:txBody>
      </p:sp>
      <p:sp>
        <p:nvSpPr>
          <p:cNvPr id="223" name="Text 221"/>
          <p:cNvSpPr/>
          <p:nvPr/>
        </p:nvSpPr>
        <p:spPr>
          <a:xfrm>
            <a:off x="5568696" y="1461211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10/04/2026, 14:36:00</a:t>
            </a:r>
            <a:endParaRPr lang="en-US" sz="800" dirty="0"/>
          </a:p>
        </p:txBody>
      </p:sp>
      <p:sp>
        <p:nvSpPr>
          <p:cNvPr id="224" name="Text 222"/>
          <p:cNvSpPr/>
          <p:nvPr/>
        </p:nvSpPr>
        <p:spPr>
          <a:xfrm>
            <a:off x="2514600" y="14849856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routed to Ginny Weasley based on product type and role.</a:t>
            </a:r>
            <a:endParaRPr lang="en-US" sz="900" dirty="0"/>
          </a:p>
        </p:txBody>
      </p:sp>
      <p:sp>
        <p:nvSpPr>
          <p:cNvPr id="225" name="Shape 223"/>
          <p:cNvSpPr/>
          <p:nvPr/>
        </p:nvSpPr>
        <p:spPr>
          <a:xfrm>
            <a:off x="2103120" y="15206472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6" name="Text 224"/>
          <p:cNvSpPr/>
          <p:nvPr/>
        </p:nvSpPr>
        <p:spPr>
          <a:xfrm>
            <a:off x="2267712" y="1516075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🗎</a:t>
            </a:r>
            <a:endParaRPr lang="en-US" sz="1000" dirty="0"/>
          </a:p>
        </p:txBody>
      </p:sp>
      <p:sp>
        <p:nvSpPr>
          <p:cNvPr id="227" name="Text 225"/>
          <p:cNvSpPr/>
          <p:nvPr/>
        </p:nvSpPr>
        <p:spPr>
          <a:xfrm>
            <a:off x="2514600" y="151607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fields extracted from email</a:t>
            </a:r>
            <a:endParaRPr lang="en-US" sz="1000" dirty="0"/>
          </a:p>
        </p:txBody>
      </p:sp>
      <p:sp>
        <p:nvSpPr>
          <p:cNvPr id="228" name="Shape 226"/>
          <p:cNvSpPr/>
          <p:nvPr/>
        </p:nvSpPr>
        <p:spPr>
          <a:xfrm>
            <a:off x="4846320" y="15179040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DCE7FB"/>
          </a:solidFill>
          <a:ln/>
        </p:spPr>
      </p:sp>
      <p:sp>
        <p:nvSpPr>
          <p:cNvPr id="229" name="Text 227"/>
          <p:cNvSpPr/>
          <p:nvPr/>
        </p:nvSpPr>
        <p:spPr>
          <a:xfrm>
            <a:off x="4846320" y="1517904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700" dirty="0"/>
          </a:p>
        </p:txBody>
      </p:sp>
      <p:sp>
        <p:nvSpPr>
          <p:cNvPr id="230" name="Text 228"/>
          <p:cNvSpPr/>
          <p:nvPr/>
        </p:nvSpPr>
        <p:spPr>
          <a:xfrm>
            <a:off x="5568696" y="151607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10/04/2026, 14:34:00</a:t>
            </a:r>
            <a:endParaRPr lang="en-US" sz="800" dirty="0"/>
          </a:p>
        </p:txBody>
      </p:sp>
      <p:sp>
        <p:nvSpPr>
          <p:cNvPr id="231" name="Text 229"/>
          <p:cNvSpPr/>
          <p:nvPr/>
        </p:nvSpPr>
        <p:spPr>
          <a:xfrm>
            <a:off x="2514600" y="15398496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economics extracted from the counterparty email.</a:t>
            </a:r>
            <a:endParaRPr lang="en-US" sz="900" dirty="0"/>
          </a:p>
        </p:txBody>
      </p:sp>
      <p:sp>
        <p:nvSpPr>
          <p:cNvPr id="232" name="Text 230"/>
          <p:cNvSpPr/>
          <p:nvPr/>
        </p:nvSpPr>
        <p:spPr>
          <a:xfrm>
            <a:off x="2514600" y="15617952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i="1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suggested: Possible duplicate — JPMorgan alleges same trade as Goldman Sachs (ALG-2026-0414-010 has similar economics). Escalate to senior ops and front office for investigation. One booking may need cancellation.</a:t>
            </a:r>
            <a:endParaRPr lang="en-US" sz="800" dirty="0"/>
          </a:p>
        </p:txBody>
      </p:sp>
      <p:sp>
        <p:nvSpPr>
          <p:cNvPr id="233" name="Shape 231"/>
          <p:cNvSpPr/>
          <p:nvPr/>
        </p:nvSpPr>
        <p:spPr>
          <a:xfrm>
            <a:off x="2103120" y="16075152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4" name="Text 232"/>
          <p:cNvSpPr/>
          <p:nvPr/>
        </p:nvSpPr>
        <p:spPr>
          <a:xfrm>
            <a:off x="2267712" y="1602943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000" dirty="0"/>
          </a:p>
        </p:txBody>
      </p:sp>
      <p:sp>
        <p:nvSpPr>
          <p:cNvPr id="235" name="Text 233"/>
          <p:cNvSpPr/>
          <p:nvPr/>
        </p:nvSpPr>
        <p:spPr>
          <a:xfrm>
            <a:off x="2514600" y="160294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as live allege</a:t>
            </a:r>
            <a:endParaRPr lang="en-US" sz="1000" dirty="0"/>
          </a:p>
        </p:txBody>
      </p:sp>
      <p:sp>
        <p:nvSpPr>
          <p:cNvPr id="236" name="Shape 234"/>
          <p:cNvSpPr/>
          <p:nvPr/>
        </p:nvSpPr>
        <p:spPr>
          <a:xfrm>
            <a:off x="4846320" y="16047720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DCE7FB"/>
          </a:solidFill>
          <a:ln/>
        </p:spPr>
      </p:sp>
      <p:sp>
        <p:nvSpPr>
          <p:cNvPr id="237" name="Text 235"/>
          <p:cNvSpPr/>
          <p:nvPr/>
        </p:nvSpPr>
        <p:spPr>
          <a:xfrm>
            <a:off x="4846320" y="1604772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700" dirty="0"/>
          </a:p>
        </p:txBody>
      </p:sp>
      <p:sp>
        <p:nvSpPr>
          <p:cNvPr id="238" name="Text 236"/>
          <p:cNvSpPr/>
          <p:nvPr/>
        </p:nvSpPr>
        <p:spPr>
          <a:xfrm>
            <a:off x="5568696" y="1602943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10/04/2026, 14:32:00</a:t>
            </a:r>
            <a:endParaRPr lang="en-US" sz="800" dirty="0"/>
          </a:p>
        </p:txBody>
      </p:sp>
      <p:sp>
        <p:nvSpPr>
          <p:cNvPr id="239" name="Text 237"/>
          <p:cNvSpPr/>
          <p:nvPr/>
        </p:nvSpPr>
        <p:spPr>
          <a:xfrm>
            <a:off x="2514600" y="16267176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classified as a live allege (AI confidence 65%).</a:t>
            </a:r>
            <a:endParaRPr lang="en-US" sz="900" dirty="0"/>
          </a:p>
        </p:txBody>
      </p:sp>
      <p:sp>
        <p:nvSpPr>
          <p:cNvPr id="240" name="Shape 238"/>
          <p:cNvSpPr/>
          <p:nvPr/>
        </p:nvSpPr>
        <p:spPr>
          <a:xfrm>
            <a:off x="2103120" y="16623792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1" name="Text 239"/>
          <p:cNvSpPr/>
          <p:nvPr/>
        </p:nvSpPr>
        <p:spPr>
          <a:xfrm>
            <a:off x="2267712" y="1657807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000" dirty="0"/>
          </a:p>
        </p:txBody>
      </p:sp>
      <p:sp>
        <p:nvSpPr>
          <p:cNvPr id="242" name="Text 240"/>
          <p:cNvSpPr/>
          <p:nvPr/>
        </p:nvSpPr>
        <p:spPr>
          <a:xfrm>
            <a:off x="2514600" y="165780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 allege email received</a:t>
            </a:r>
            <a:endParaRPr lang="en-US" sz="1000" dirty="0"/>
          </a:p>
        </p:txBody>
      </p:sp>
      <p:sp>
        <p:nvSpPr>
          <p:cNvPr id="243" name="Shape 241"/>
          <p:cNvSpPr/>
          <p:nvPr/>
        </p:nvSpPr>
        <p:spPr>
          <a:xfrm>
            <a:off x="4846320" y="16596360"/>
            <a:ext cx="841248" cy="201168"/>
          </a:xfrm>
          <a:prstGeom prst="roundRect">
            <a:avLst>
              <a:gd name="adj" fmla="val 50000"/>
            </a:avLst>
          </a:prstGeom>
          <a:solidFill>
            <a:srgbClr val="DCE7FB"/>
          </a:solidFill>
          <a:ln/>
        </p:spPr>
      </p:sp>
      <p:sp>
        <p:nvSpPr>
          <p:cNvPr id="244" name="Text 242"/>
          <p:cNvSpPr/>
          <p:nvPr/>
        </p:nvSpPr>
        <p:spPr>
          <a:xfrm>
            <a:off x="4846320" y="1659636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JPMorgan Chase</a:t>
            </a:r>
            <a:endParaRPr lang="en-US" sz="700" dirty="0"/>
          </a:p>
        </p:txBody>
      </p:sp>
      <p:sp>
        <p:nvSpPr>
          <p:cNvPr id="245" name="Text 243"/>
          <p:cNvSpPr/>
          <p:nvPr/>
        </p:nvSpPr>
        <p:spPr>
          <a:xfrm>
            <a:off x="5843016" y="165780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10/04/2026, 14:30:00</a:t>
            </a:r>
            <a:endParaRPr lang="en-US" sz="800" dirty="0"/>
          </a:p>
        </p:txBody>
      </p:sp>
      <p:sp>
        <p:nvSpPr>
          <p:cNvPr id="246" name="Text 244"/>
          <p:cNvSpPr/>
          <p:nvPr/>
        </p:nvSpPr>
        <p:spPr>
          <a:xfrm>
            <a:off x="2514600" y="16815816"/>
            <a:ext cx="8275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Allege received from JPMorgan Chase via SWIFT.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BANK-AI — Allege Detail Wireframe</dc:title>
  <dc:subject>PptxGenJS Presentation</dc:subject>
  <dc:creator>Claude</dc:creator>
  <cp:lastModifiedBy>Claude</cp:lastModifiedBy>
  <cp:revision>1</cp:revision>
  <dcterms:created xsi:type="dcterms:W3CDTF">2026-07-03T11:47:21Z</dcterms:created>
  <dcterms:modified xsi:type="dcterms:W3CDTF">2026-07-03T11:47:21Z</dcterms:modified>
</cp:coreProperties>
</file>