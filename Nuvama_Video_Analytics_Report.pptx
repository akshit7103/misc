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Nuvama Wealth Management Limited - Video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- Capture and log authorized and unauthorized entries into the dealing rooms of Nuvama Wealth Management Limited.</a:t>
            </a:r>
          </a:p>
          <a:p>
            <a:r>
              <a:rPr sz="1300" b="0"/>
              <a:t>- Maintain a verifiable audit trail of all personnel movement (entries and exits) inside the dealing rooms.</a:t>
            </a:r>
          </a:p>
          <a:p>
            <a:r>
              <a:rPr sz="1300" b="0"/>
              <a:t>- Detect and log instances of mobile phone usage inside the dealing rooms (restricted activity).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Branches 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- Bangalore Branch - Dealing Room</a:t>
            </a:r>
          </a:p>
          <a:p>
            <a:r>
              <a:rPr sz="1300" b="0"/>
              <a:t>- Ahmedabad Branch - Dealing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/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- Each authorized dealer is registered into the system with their reference photographs to build an identity database.</a:t>
            </a:r>
          </a:p>
          <a:p>
            <a:r>
              <a:rPr sz="1300" b="0"/>
              <a:t>- Existing CCTV feeds from the dealing rooms are continuously processed by the analytics engine - no new hardware is required.</a:t>
            </a:r>
          </a:p>
          <a:p>
            <a:r>
              <a:rPr sz="1300" b="0"/>
              <a:t>- The system identifies every person entering the dealing room: known dealers are logged as authorized entries/exits, unknown faces are logged as unauthorized entries with snapshots saved as evidence.</a:t>
            </a:r>
          </a:p>
          <a:p>
            <a:r>
              <a:rPr sz="1300" b="0"/>
              <a:t>- Mobile phone usage is detected and logged separately as a compliance event.</a:t>
            </a:r>
          </a:p>
          <a:p>
            <a:r>
              <a:rPr sz="1300" b="0"/>
              <a:t>- All events are time-stamped, stored in a central log, and exportable as a spreadsheet for compliance review and audit purposes.</a:t>
            </a:r>
          </a:p>
          <a:p>
            <a:r>
              <a:rPr sz="1300" b="0"/>
              <a:t>- Scope explicitly includes monitoring of mobile phone usage in addition to entry/exit tracking.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Logged Events - Spreadsheet Summary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Reporting Window: 24-Mar-2026 to 05-May-2026 (22 active days)</a:t>
            </a:r>
          </a:p>
          <a:p>
            <a:r>
              <a:rPr sz="1200" b="0"/>
              <a:t>Total Events Logged: 28,269</a:t>
            </a:r>
          </a:p>
          <a:p>
            <a:r>
              <a:rPr sz="1200" b="0"/>
              <a:t>Snapshots Captured (unauthorized): 5,971</a:t>
            </a:r>
          </a:p>
          <a:p>
            <a:endParaRPr sz="1200" b="0"/>
          </a:p>
          <a:p>
            <a:r>
              <a:rPr sz="1200" b="0"/>
              <a:t>Bangalore Branch (Dahua Ch8):</a:t>
            </a:r>
          </a:p>
          <a:p>
            <a:r>
              <a:rPr sz="1200" b="0"/>
              <a:t>   - Authorized Entries: 221</a:t>
            </a:r>
          </a:p>
          <a:p>
            <a:r>
              <a:rPr sz="1200" b="0"/>
              <a:t>   - Authorized Exits:   212</a:t>
            </a:r>
          </a:p>
          <a:p>
            <a:r>
              <a:rPr sz="1200" b="0"/>
              <a:t>   - Unauthorized Entries: 3,737</a:t>
            </a:r>
          </a:p>
          <a:p>
            <a:r>
              <a:rPr sz="1200" b="0"/>
              <a:t>   - Mobile Phone Usage: 11</a:t>
            </a:r>
          </a:p>
          <a:p>
            <a:endParaRPr sz="1200" b="0"/>
          </a:p>
          <a:p>
            <a:r>
              <a:rPr sz="1200" b="0"/>
              <a:t>Ahmedabad Branch:</a:t>
            </a:r>
          </a:p>
          <a:p>
            <a:r>
              <a:rPr sz="1200" b="0"/>
              <a:t>   - Unauthorized Entries: 11,282</a:t>
            </a:r>
          </a:p>
          <a:p>
            <a:r>
              <a:rPr sz="1200" b="0"/>
              <a:t>   - Mobile Phone Usage: 24</a:t>
            </a:r>
          </a:p>
          <a:p>
            <a:r>
              <a:rPr sz="1200" b="0"/>
              <a:t>   - (Authorized entries/exits not reliably captured - see Limitations)</a:t>
            </a:r>
          </a:p>
          <a:p>
            <a:endParaRPr sz="1200" b="0"/>
          </a:p>
          <a:p>
            <a:r>
              <a:rPr sz="1200" b="0"/>
              <a:t>Top Identified Dealers (by entry count):</a:t>
            </a:r>
          </a:p>
          <a:p>
            <a:r>
              <a:rPr sz="1200" b="0"/>
              <a:t>   - Dealer B3: 352 entries</a:t>
            </a:r>
          </a:p>
          <a:p>
            <a:r>
              <a:rPr sz="1200" b="0"/>
              <a:t>   - Dealer B2: 19 entries</a:t>
            </a:r>
          </a:p>
          <a:p>
            <a:r>
              <a:rPr sz="1200" b="0"/>
              <a:t>   - Other registered dealers: 1-4 entries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Spreadsheet Fields: Timestamp | Source/Camera | Event Type (entry/exit/unauthorized/phone_detected) | User Name | Snapshot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914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Sample Captures</a:t>
            </a:r>
          </a:p>
        </p:txBody>
      </p:sp>
      <p:pic>
        <p:nvPicPr>
          <p:cNvPr id="6" name="Picture 5" descr="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1828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3200400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dirty="0"/>
              <a:t>Registration Photo of personnel	</a:t>
            </a:r>
            <a:endParaRPr sz="1000" b="0" dirty="0"/>
          </a:p>
        </p:txBody>
      </p:sp>
      <p:sp>
        <p:nvSpPr>
          <p:cNvPr id="9" name="TextBox 8"/>
          <p:cNvSpPr txBox="1"/>
          <p:nvPr/>
        </p:nvSpPr>
        <p:spPr>
          <a:xfrm>
            <a:off x="8006861" y="3200400"/>
            <a:ext cx="19085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/>
              <a:t>Unauthorized entry</a:t>
            </a:r>
            <a:r>
              <a:rPr lang="en-US" sz="1000" b="0" dirty="0"/>
              <a:t> (</a:t>
            </a:r>
            <a:r>
              <a:rPr lang="en-IN" sz="1000" dirty="0"/>
              <a:t>2026-04-16 11:11:22</a:t>
            </a:r>
          </a:p>
          <a:p>
            <a:pPr algn="ctr"/>
            <a:endParaRPr sz="1000" b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149840" y="320040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dirty="0"/>
              <a:t>Mobile Phone Usage</a:t>
            </a:r>
            <a:endParaRPr sz="1000" b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39133F-4C4B-F0AC-4069-1884EB53E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1"/>
            <a:ext cx="1771357" cy="1828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6B5E7D-9F00-2685-F595-2D4F36DEB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387697"/>
            <a:ext cx="1771356" cy="18127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92D865-1929-EF2A-6CAB-52908920A6F1}"/>
              </a:ext>
            </a:extLst>
          </p:cNvPr>
          <p:cNvSpPr txBox="1"/>
          <p:nvPr/>
        </p:nvSpPr>
        <p:spPr>
          <a:xfrm>
            <a:off x="6292434" y="5410181"/>
            <a:ext cx="1754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Authorized entry (2026-04-27 10:42:29</a:t>
            </a:r>
            <a:endParaRPr lang="en-IN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5D91330-CDDD-CF3B-4A16-D8138A19B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792" y="3600510"/>
            <a:ext cx="1754286" cy="171004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2FDE38-2676-41EB-2A27-D4AA0188A085}"/>
              </a:ext>
            </a:extLst>
          </p:cNvPr>
          <p:cNvSpPr txBox="1"/>
          <p:nvPr/>
        </p:nvSpPr>
        <p:spPr>
          <a:xfrm>
            <a:off x="8194431" y="5410181"/>
            <a:ext cx="21963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Glance of the system</a:t>
            </a:r>
            <a:endParaRPr lang="en-IN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8A06DE9-53E1-F03F-386B-A1DFDA61B9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600510"/>
            <a:ext cx="1828800" cy="17532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Limitations Observed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1. Reference Image Quality and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/>
              <a:t>- Reference images of dealers provided for registration were not up to the mark - several were outdated, low-resolution, or captured at </a:t>
            </a:r>
            <a:r>
              <a:rPr sz="1200" b="0" dirty="0" err="1"/>
              <a:t>unfavourable</a:t>
            </a:r>
            <a:r>
              <a:rPr sz="1200" b="0" dirty="0"/>
              <a:t> angles.</a:t>
            </a:r>
          </a:p>
          <a:p>
            <a:r>
              <a:rPr sz="1200" b="0" dirty="0"/>
              <a:t>- This directly reduced the system's ability to </a:t>
            </a:r>
            <a:r>
              <a:rPr sz="1200" b="0" dirty="0" err="1"/>
              <a:t>recognise</a:t>
            </a:r>
            <a:r>
              <a:rPr sz="1200" b="0" dirty="0"/>
              <a:t> registered dealers, causing genuine dealers to be mis-classified as unauthorized.</a:t>
            </a:r>
          </a:p>
          <a:p>
            <a:r>
              <a:rPr sz="1200" b="0" dirty="0"/>
              <a:t>- Refreshing the reference image set with recent</a:t>
            </a:r>
            <a:r>
              <a:rPr lang="en-US" sz="1200" b="0" dirty="0"/>
              <a:t>/live</a:t>
            </a:r>
            <a:r>
              <a:rPr sz="1200" b="0" dirty="0"/>
              <a:t>, front-facing, well-lit photographs would materially improve recognition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2. Camera Quality (notably Ahmedabad branch)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- The CCTV feed quality at the Ahmedabad branch was visibly inferior to the Bangalore branch - lower resolution, weaker lighting and motion blur.</a:t>
            </a:r>
          </a:p>
          <a:p>
            <a:r>
              <a:rPr sz="1200" b="0"/>
              <a:t>- Poor image quality reduces the model's ability to extract reliable facial features, which is the dominant cause of the inflated unauthorized count (11,282) recorded at Ahmedabad.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3. Camera Positioning and Angle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- The cameras were positioned such that several dealers sat far from the lens, producing very small face crops that the model could not match to references.</a:t>
            </a:r>
          </a:p>
          <a:p>
            <a:r>
              <a:rPr sz="1200" b="0"/>
              <a:t>- Many dealers also sat with their backs or sides facing the camera for long periods, so no usable face was visible at the moment of detection.</a:t>
            </a:r>
          </a:p>
          <a:p>
            <a:r>
              <a:rPr sz="1200" b="0"/>
              <a:t>- Both factors caused legitimate dealers to repeatedly trigger unauthorized-entry events. This is the primary explanation for the high unauthorized counts, especially at the Ahmedabad branch where poor positioning compounded with poor camera quality.</a:t>
            </a:r>
          </a:p>
          <a:p>
            <a:r>
              <a:rPr sz="1200" b="0"/>
              <a:t>- Recommendation: re-position cameras to capture a clearer frontal view of the dealing-room entrance and seating area, and upgrade Ahmedabad camera hardware in line with Bangalore.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656</Words>
  <Application>Microsoft Office PowerPoint</Application>
  <PresentationFormat>Widescreen</PresentationFormat>
  <Paragraphs>55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Akshit Mahajan</dc:creator>
  <cp:keywords/>
  <dc:description>generated using python-pptx</dc:description>
  <cp:lastModifiedBy>Akshit Mahajan (IND)</cp:lastModifiedBy>
  <cp:revision>2</cp:revision>
  <dcterms:created xsi:type="dcterms:W3CDTF">2013-01-27T09:14:16Z</dcterms:created>
  <dcterms:modified xsi:type="dcterms:W3CDTF">2026-05-05T11:03:45Z</dcterms:modified>
  <cp:category/>
</cp:coreProperties>
</file>