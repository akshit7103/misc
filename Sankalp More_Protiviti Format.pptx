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1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78" algn="l" defTabSz="4571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54" algn="l" defTabSz="4571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32" algn="l" defTabSz="4571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09" algn="l" defTabSz="4571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86" algn="l" defTabSz="4571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62" algn="l" defTabSz="4571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4571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4571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9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99"/>
    <a:srgbClr val="00355B"/>
    <a:srgbClr val="00304E"/>
    <a:srgbClr val="3E54A4"/>
    <a:srgbClr val="00927D"/>
    <a:srgbClr val="101820"/>
    <a:srgbClr val="FFFFFF"/>
    <a:srgbClr val="00948A"/>
    <a:srgbClr val="25A7E7"/>
    <a:srgbClr val="009C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58" y="528"/>
      </p:cViewPr>
      <p:guideLst>
        <p:guide orient="horz" pos="89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shit Mahajan (IND)" userId="ec231618-85f8-43fd-b06b-b48ad04dbed5" providerId="ADAL" clId="{21E69547-2698-4C95-AACB-A9DF795BE23E}"/>
    <pc:docChg chg="delSld">
      <pc:chgData name="Akshit Mahajan (IND)" userId="ec231618-85f8-43fd-b06b-b48ad04dbed5" providerId="ADAL" clId="{21E69547-2698-4C95-AACB-A9DF795BE23E}" dt="2026-06-25T15:01:34.105" v="0" actId="47"/>
      <pc:docMkLst>
        <pc:docMk/>
      </pc:docMkLst>
      <pc:sldChg chg="del">
        <pc:chgData name="Akshit Mahajan (IND)" userId="ec231618-85f8-43fd-b06b-b48ad04dbed5" providerId="ADAL" clId="{21E69547-2698-4C95-AACB-A9DF795BE23E}" dt="2026-06-25T15:01:34.105" v="0" actId="47"/>
        <pc:sldMkLst>
          <pc:docMk/>
          <pc:sldMk cId="2218492076" sldId="257"/>
        </pc:sldMkLst>
      </pc:sldChg>
    </pc:docChg>
  </pc:docChgLst>
</pc:chgInfo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62A37F-52B2-A640-BC44-2F873D196DA6}" type="datetimeFigureOut">
              <a:rPr lang="en-US"/>
              <a:t>6/25/2026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773E22-1E6A-3E47-A888-74D2E4F580B3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640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7C545BF-96F2-4E37-BFDF-0C83A25C77F4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7197836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0"/>
            <a:ext cx="10668000" cy="11430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>
              <a:defRPr lang="en-US" dirty="0"/>
            </a:lvl1pPr>
          </a:lstStyle>
          <a:p>
            <a:pPr lvl="0" eaLnBrk="0" fontAlgn="base" hangingPunct="0">
              <a:lnSpc>
                <a:spcPct val="85000"/>
              </a:lnSpc>
              <a:spcAft>
                <a:spcPct val="0"/>
              </a:spcAft>
            </a:pPr>
            <a:r>
              <a:rPr lang="en-US"/>
              <a:t>Click to edit Master title style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768096" y="1261872"/>
            <a:ext cx="10668000" cy="1136208"/>
          </a:xfrm>
        </p:spPr>
        <p:txBody>
          <a:bodyPr wrap="square" lIns="0" rIns="0"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76382214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F6D377-51C5-1D70-6670-BA1609F40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9F2FFD-DC23-FB6F-4F98-0D72A348D5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9CC471-359B-D783-F8A6-6641F86BCB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58A4EF-3804-429A-8C9B-A557A3C9C0B2}" type="datetimeFigureOut">
              <a:rPr lang="en-US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D93026-BA6E-A0D2-18F2-E525143B37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B15C5-0C73-C834-30AC-4EDE5E4D2A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27B548-9262-4BFC-BFBB-8D020B0CE3FD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454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/>
          <p:cNvCxnSpPr>
            <a:cxnSpLocks/>
          </p:cNvCxnSpPr>
          <p:nvPr/>
        </p:nvCxnSpPr>
        <p:spPr>
          <a:xfrm>
            <a:off x="2228054" y="725872"/>
            <a:ext cx="10849" cy="5929754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  <a:prstDash val="soli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2295132" y="864796"/>
            <a:ext cx="3529608" cy="29432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Profile Summary</a:t>
            </a:r>
          </a:p>
        </p:txBody>
      </p:sp>
      <p:cxnSp>
        <p:nvCxnSpPr>
          <p:cNvPr id="18" name="Straight Connector 17"/>
          <p:cNvCxnSpPr>
            <a:cxnSpLocks/>
          </p:cNvCxnSpPr>
          <p:nvPr/>
        </p:nvCxnSpPr>
        <p:spPr>
          <a:xfrm>
            <a:off x="2321039" y="1260265"/>
            <a:ext cx="9661863" cy="12574"/>
          </a:xfrm>
          <a:prstGeom prst="line">
            <a:avLst/>
          </a:prstGeom>
          <a:ln w="22225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/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6285" y="197691"/>
            <a:ext cx="1411605" cy="418465"/>
          </a:xfrm>
          <a:prstGeom prst="rect">
            <a:avLst/>
          </a:prstGeom>
        </p:spPr>
      </p:pic>
      <p:sp>
        <p:nvSpPr>
          <p:cNvPr id="21" name="Content Placeholder 4"/>
          <p:cNvSpPr>
            <a:spLocks noGrp="1"/>
          </p:cNvSpPr>
          <p:nvPr/>
        </p:nvSpPr>
        <p:spPr>
          <a:xfrm>
            <a:off x="0" y="690921"/>
            <a:ext cx="12192000" cy="14815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wrap="square" lIns="91440" tIns="91440" rIns="91440" bIns="91440" rtlCol="0">
            <a:noAutofit/>
          </a:bodyPr>
          <a:lstStyle/>
          <a:p>
            <a:pPr marL="0" marR="0" lvl="0" indent="0" algn="l" defTabSz="457178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MS Mincho"/>
                <a:cs typeface="Calibri" panose="020F0502020204030204" pitchFamily="34" charset="0"/>
              </a:rPr>
              <a:t> </a:t>
            </a: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MS Mincho"/>
              <a:cs typeface="Calibri" panose="020F0502020204030204" pitchFamily="34" charset="0"/>
            </a:endParaRP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138064" y="258546"/>
          <a:ext cx="3988714" cy="508297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3988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8297">
                <a:tc>
                  <a:txBody>
                    <a:bodyPr/>
                    <a:lstStyle/>
                    <a:p>
                      <a:r>
                        <a:rPr lang="en-US" sz="2400" i="0" baseline="0">
                          <a:solidFill>
                            <a:srgbClr val="00304E"/>
                          </a:solidFill>
                          <a:latin typeface="Calibri"/>
                          <a:cs typeface="Calibri"/>
                        </a:rPr>
                        <a:t>Sankalp More</a:t>
                      </a:r>
                      <a:endParaRPr lang="en-IN" sz="2400" i="0" baseline="0">
                        <a:solidFill>
                          <a:srgbClr val="00304E"/>
                        </a:solidFill>
                        <a:latin typeface="Calibri"/>
                        <a:cs typeface="Calibri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3048222" y="1257400"/>
            <a:ext cx="8948127" cy="1025338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just" defTabSz="914400" rtl="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>
                <a:srgbClr val="5D7B9A"/>
              </a:buClr>
              <a:buSzTx/>
              <a:buFont typeface="Arial" panose="020B0604020202020204" pitchFamily="34" charset="0"/>
              <a:buNone/>
              <a:tabLst>
                <a:tab pos="457200" algn="l"/>
              </a:tabLst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MS Mincho" pitchFamily="49" charset="-128"/>
              <a:cs typeface="Calibri" panose="020F0502020204030204" pitchFamily="34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308353" y="2396453"/>
            <a:ext cx="3529608" cy="29432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Relevant Experience</a:t>
            </a:r>
          </a:p>
        </p:txBody>
      </p:sp>
      <p:cxnSp>
        <p:nvCxnSpPr>
          <p:cNvPr id="28" name="Straight Connector 27"/>
          <p:cNvCxnSpPr>
            <a:cxnSpLocks/>
          </p:cNvCxnSpPr>
          <p:nvPr/>
        </p:nvCxnSpPr>
        <p:spPr>
          <a:xfrm>
            <a:off x="2321799" y="2676152"/>
            <a:ext cx="9661863" cy="12574"/>
          </a:xfrm>
          <a:prstGeom prst="line">
            <a:avLst/>
          </a:prstGeom>
          <a:ln w="22225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2294907" y="2688726"/>
            <a:ext cx="9661864" cy="3916871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282568" marR="0" lvl="0" indent="-171446" algn="l" defTabSz="10389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 xml:space="preserve">Enterprise GenAI Deployment &amp; LLMOps Automation : 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Deployed 4 production-grade Generative AI systems across enterprise clients and led a team of 7 engineers. Designed and implemented LLMOps and deployment pipelines that automated build, release, and monitoring, cutting release cycles from 2 weeks to 48 hours while reducing cloud cost by 18%.</a:t>
            </a:r>
          </a:p>
          <a:p>
            <a:pPr marL="282568" marR="0" lvl="0" indent="-171446" algn="l" defTabSz="10389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 xml:space="preserve">AI-Driven Compliance &amp; Threat Analysis Automation : 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Built and deployed an AI-driven compliance and threat-analysis system that automated manual review workflows for enterprise clients, saving 500+ engineering hours per quarter and improving the consistency and turnaround of risk checks.</a:t>
            </a:r>
          </a:p>
          <a:p>
            <a:pPr marL="282568" marR="0" lvl="0" indent="-171446" algn="l" defTabSz="10389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 xml:space="preserve">Automated Reporting &amp; RFP Workflows : 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Delivered AI reporting and automated RFP-generation workflows used by 30+ investment banking clients, reducing report preparation time by 42% and RFP turnaround from 5 days to 2 days through end-to-end automation builds.</a:t>
            </a:r>
          </a:p>
          <a:p>
            <a:pPr marL="282568" marR="0" lvl="0" indent="-171446" algn="l" defTabSz="10389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 xml:space="preserve">Enterprise RAG &amp; Knowledge Automation : 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Built GPT-based and RAG knowledge systems for enterprise healthcare clients, integrating Azure, OpenAI, and AWS Bedrock across the application stack and owning full-lifecycle delivery from discovery to deployment and monitoring; contributed to an award-winning AI solution.</a:t>
            </a:r>
          </a:p>
          <a:p>
            <a:pPr marL="282568" marR="0" lvl="0" indent="-171446" algn="l" defTabSz="10389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 xml:space="preserve">AI-Assisted Developer Workflow &amp; Product Build : 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Built and launched a live warehousing marketplace (ChangingBox) using OpenAI Codex and AI-assisted developer workflows; designed a GitHub-to-EC2 deployment pipeline for fast, reliable releases and validated demand through a first paid B2B booking.</a:t>
            </a:r>
          </a:p>
          <a:p>
            <a:pPr marL="282568" marR="0" lvl="0" indent="-171446" algn="l" defTabSz="10389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 xml:space="preserve">AI Adoption Roadmap &amp; Solutioning : </a:t>
            </a:r>
            <a:r>
              <a:rPr lang="en-US" sz="13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Designed an AI adoption roadmap and LLM-powered prototypes for an e-commerce platform, converting business needs into deployable AI system designs, architecture recommendations, and implementation plans across customer and engineering workflows.</a:t>
            </a:r>
          </a:p>
          <a:p>
            <a:pPr marL="282568" marR="0" lvl="0" indent="-171446" algn="l" defTabSz="10389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endParaRPr lang="en-US" sz="13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2568" marR="0" lvl="0" indent="-171446" algn="l" defTabSz="10389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endParaRPr lang="en-US" sz="13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2568" marR="0" lvl="0" indent="-171446" algn="l" defTabSz="10389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endParaRPr lang="en-US" sz="13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Content Placeholder 4"/>
          <p:cNvSpPr>
            <a:spLocks noGrp="1"/>
          </p:cNvSpPr>
          <p:nvPr/>
        </p:nvSpPr>
        <p:spPr>
          <a:xfrm>
            <a:off x="5942801" y="683783"/>
            <a:ext cx="4901520" cy="15529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square" lIns="91440" tIns="91440" rIns="91440" bIns="91440" rtlCol="0">
            <a:noAutofit/>
          </a:bodyPr>
          <a:lstStyle/>
          <a:p>
            <a:pPr marL="0" marR="0" lvl="0" indent="0" algn="l" defTabSz="457178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C7C9C6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MS Mincho"/>
                <a:cs typeface="Calibri" panose="020F0502020204030204" pitchFamily="34" charset="0"/>
              </a:rPr>
              <a:t> </a:t>
            </a: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C7C9C6">
                  <a:lumMod val="20000"/>
                  <a:lumOff val="8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MS Mincho"/>
              <a:cs typeface="Calibri" panose="020F0502020204030204" pitchFamily="34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9143369" y="913180"/>
            <a:ext cx="2852980" cy="29432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l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Manager</a:t>
            </a:r>
            <a:endParaRPr kumimoji="0" lang="en-IN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B2BF46F5-377D-47A1-A35E-F81D01533652}"/>
              </a:ext>
            </a:extLst>
          </p:cNvPr>
          <p:cNvGraphicFramePr>
            <a:graphicFrameLocks noGrp="1"/>
          </p:cNvGraphicFramePr>
          <p:nvPr/>
        </p:nvGraphicFramePr>
        <p:xfrm>
          <a:off x="138064" y="2504434"/>
          <a:ext cx="1831656" cy="918972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18316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4688">
                <a:tc>
                  <a:txBody>
                    <a:bodyPr/>
                    <a:lstStyle/>
                    <a:p>
                      <a:pPr algn="just"/>
                      <a:r>
                        <a:rPr lang="en-IN" sz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Industry Experience</a:t>
                      </a:r>
                    </a:p>
                  </a:txBody>
                  <a:tcPr>
                    <a:lnB w="127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1825">
                <a:tc>
                  <a:txBody>
                    <a:bodyPr/>
                    <a:lstStyle/>
                    <a:p>
                      <a:pPr marL="118872" marR="0" lvl="0" indent="-118872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D3E"/>
                        </a:buClr>
                        <a:buSzTx/>
                        <a:buFont typeface="Arial" panose="020B0604020202020204" pitchFamily="34" charset="0"/>
                        <a:buChar char="•"/>
                        <a:tabLst>
                          <a:tab pos="228600" algn="l"/>
                          <a:tab pos="457200" algn="l"/>
                        </a:tabLst>
                        <a:defRPr/>
                      </a:pPr>
                      <a:r>
                        <a:rPr lang="en-US" altLang="ja-JP" sz="1100" b="0" kern="1200" noProof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Calibri" panose="020F0502020204030204" pitchFamily="34" charset="0"/>
                        </a:rPr>
                        <a:t>Banking/Financial Services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D3E"/>
                        </a:buClr>
                        <a:buSzTx/>
                        <a:buFont typeface="Arial" panose="020B0604020202020204" pitchFamily="34" charset="0"/>
                        <a:buNone/>
                        <a:tabLst>
                          <a:tab pos="228600" algn="l"/>
                          <a:tab pos="457200" algn="l"/>
                        </a:tabLst>
                        <a:defRPr/>
                      </a:pPr>
                      <a:endParaRPr lang="en-US" altLang="ja-JP" sz="1100" b="0" kern="1200" noProof="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Calibri" panose="020F0502020204030204" pitchFamily="34" charset="0"/>
                      </a:endParaRPr>
                    </a:p>
                    <a:p>
                      <a:pPr marL="118872" marR="0" lvl="0" indent="-118872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D3E"/>
                        </a:buClr>
                        <a:buSzTx/>
                        <a:buFont typeface="Arial" panose="020B0604020202020204" pitchFamily="34" charset="0"/>
                        <a:buChar char="•"/>
                        <a:tabLst>
                          <a:tab pos="228600" algn="l"/>
                          <a:tab pos="457200" algn="l"/>
                        </a:tabLst>
                        <a:defRPr/>
                      </a:pPr>
                      <a:r>
                        <a:rPr lang="en-US" altLang="ja-JP" sz="1100" b="0" kern="1200" noProof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Calibri" panose="020F0502020204030204" pitchFamily="34" charset="0"/>
                        </a:rPr>
                        <a:t>Healthcare &amp; Fintech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C0A0976B-C717-45E3-9A7B-E89718746A69}"/>
              </a:ext>
            </a:extLst>
          </p:cNvPr>
          <p:cNvGraphicFramePr>
            <a:graphicFrameLocks noGrp="1"/>
          </p:cNvGraphicFramePr>
          <p:nvPr/>
        </p:nvGraphicFramePr>
        <p:xfrm>
          <a:off x="114300" y="5092841"/>
          <a:ext cx="1961876" cy="1243027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19618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2718">
                <a:tc>
                  <a:txBody>
                    <a:bodyPr/>
                    <a:lstStyle/>
                    <a:p>
                      <a:pPr algn="l"/>
                      <a:r>
                        <a:rPr lang="en-IN" sz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Academic Credentials / License and Certifications</a:t>
                      </a:r>
                    </a:p>
                  </a:txBody>
                  <a:tcPr>
                    <a:lnB w="127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5827">
                <a:tc>
                  <a:txBody>
                    <a:bodyPr/>
                    <a:lstStyle/>
                    <a:p>
                      <a:pPr marL="118872" marR="0" lvl="0" indent="-118872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D3E"/>
                        </a:buClr>
                        <a:buSzTx/>
                        <a:buFont typeface="Arial" panose="020B0604020202020204" pitchFamily="34" charset="0"/>
                        <a:buChar char="•"/>
                        <a:tabLst>
                          <a:tab pos="228600" algn="l"/>
                          <a:tab pos="457200" algn="l"/>
                        </a:tabLst>
                        <a:defRPr/>
                      </a:pPr>
                      <a:r>
                        <a:rPr lang="en-US" altLang="ja-JP" sz="1050" b="0" kern="1200" noProof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Calibri" panose="020F0502020204030204" pitchFamily="34" charset="0"/>
                        </a:rPr>
                        <a:t>M.Sc. Artificial Intelligence - Birla College, Kalyan (2023)</a:t>
                      </a:r>
                    </a:p>
                    <a:p>
                      <a:pPr marL="118872" marR="0" lvl="0" indent="-118872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D3E"/>
                        </a:buClr>
                        <a:buSzTx/>
                        <a:buFont typeface="Arial" panose="020B0604020202020204" pitchFamily="34" charset="0"/>
                        <a:buChar char="•"/>
                        <a:tabLst>
                          <a:tab pos="228600" algn="l"/>
                          <a:tab pos="457200" algn="l"/>
                        </a:tabLst>
                        <a:defRPr/>
                      </a:pPr>
                      <a:r>
                        <a:rPr lang="en-US" altLang="ja-JP" sz="1050" b="0" kern="1200" noProof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Calibri" panose="020F0502020204030204" pitchFamily="34" charset="0"/>
                        </a:rPr>
                        <a:t>B.Sc. Statistics - Kirti College, Mumbai (2021)</a:t>
                      </a:r>
                    </a:p>
                    <a:p>
                      <a:pPr marL="118872" marR="0" lvl="0" indent="-118872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D3E"/>
                        </a:buClr>
                        <a:buSzTx/>
                        <a:buFont typeface="Arial" panose="020B0604020202020204" pitchFamily="34" charset="0"/>
                        <a:buChar char="•"/>
                        <a:tabLst>
                          <a:tab pos="228600" algn="l"/>
                          <a:tab pos="457200" algn="l"/>
                        </a:tabLst>
                        <a:defRPr/>
                      </a:pPr>
                      <a:r>
                        <a:rPr lang="en-US" altLang="ja-JP" sz="1050" b="0" kern="1200" noProof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MS Mincho" panose="02020609040205080304" pitchFamily="49" charset="-128"/>
                          <a:cs typeface="Calibri" panose="020F0502020204030204" pitchFamily="34" charset="0"/>
                        </a:rPr>
                        <a:t>Certifications: AWS ML, NIELIT AI, IIT Madras, TCS iON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47DFD919-E668-40D1-8E02-C8C27C005716}"/>
              </a:ext>
            </a:extLst>
          </p:cNvPr>
          <p:cNvGraphicFramePr>
            <a:graphicFrameLocks noGrp="1"/>
          </p:cNvGraphicFramePr>
          <p:nvPr/>
        </p:nvGraphicFramePr>
        <p:xfrm>
          <a:off x="123060" y="3494779"/>
          <a:ext cx="1981934" cy="1835973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19819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3144">
                <a:tc>
                  <a:txBody>
                    <a:bodyPr/>
                    <a:lstStyle/>
                    <a:p>
                      <a:pPr algn="just"/>
                      <a:r>
                        <a:rPr lang="en-IN" sz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Tools and Language</a:t>
                      </a:r>
                    </a:p>
                  </a:txBody>
                  <a:tcPr>
                    <a:lnB w="127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62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D3E"/>
                        </a:buClr>
                        <a:buSzTx/>
                        <a:buFont typeface="Arial" panose="020B0604020202020204" pitchFamily="34" charset="0"/>
                        <a:buNone/>
                        <a:tabLst>
                          <a:tab pos="228600" algn="l"/>
                          <a:tab pos="457200" algn="l"/>
                        </a:tabLst>
                        <a:defRPr/>
                      </a:pPr>
                      <a:r>
                        <a:rPr lang="en-IN" sz="1050"/>
                        <a:t>Python, Flask, Django, TensorFlow, Keras, Pandas, OpenAI, AWS Bedrock, Azure AI Foundry, Hugging Face, RAG, LLMOps, OpenAI Codex, CI/CD, GitHub, EC2, AWS</a:t>
                      </a:r>
                      <a:endParaRPr lang="en-US" altLang="ja-JP" sz="1050" b="0" kern="1200" noProof="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3D3E"/>
                        </a:buClr>
                        <a:buSzTx/>
                        <a:buFont typeface="Arial" panose="020B0604020202020204" pitchFamily="34" charset="0"/>
                        <a:buNone/>
                        <a:tabLst>
                          <a:tab pos="228600" algn="l"/>
                          <a:tab pos="457200" algn="l"/>
                        </a:tabLst>
                        <a:defRPr/>
                      </a:pPr>
                      <a:endParaRPr lang="en-US" sz="1050" b="0" kern="1200">
                        <a:solidFill>
                          <a:schemeClr val="tx2"/>
                        </a:solidFill>
                        <a:latin typeface="Calibri" panose="020F0502020204030204" pitchFamily="34" charset="0"/>
                        <a:ea typeface="MS Mincho" pitchFamily="49" charset="-128"/>
                        <a:cs typeface="Calibri" panose="020F050202020403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9EE5D6B7-EF02-464E-B25E-6BACE72D57E9}"/>
              </a:ext>
            </a:extLst>
          </p:cNvPr>
          <p:cNvGraphicFramePr>
            <a:graphicFrameLocks noGrp="1"/>
          </p:cNvGraphicFramePr>
          <p:nvPr/>
        </p:nvGraphicFramePr>
        <p:xfrm>
          <a:off x="104570" y="998415"/>
          <a:ext cx="2147779" cy="1558724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21477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1745">
                <a:tc>
                  <a:txBody>
                    <a:bodyPr/>
                    <a:lstStyle/>
                    <a:p>
                      <a:pPr algn="just"/>
                      <a:r>
                        <a:rPr lang="en-IN" sz="12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Areas of Expertise</a:t>
                      </a:r>
                    </a:p>
                  </a:txBody>
                  <a:tcPr>
                    <a:lnB w="127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46979">
                <a:tc>
                  <a:txBody>
                    <a:bodyPr/>
                    <a:lstStyle/>
                    <a:p>
                      <a:pPr marL="233363" marR="0" indent="-109538" algn="l" defTabSz="914400" rtl="0" eaLnBrk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en-US" sz="1100" b="0" kern="1200">
                          <a:solidFill>
                            <a:schemeClr val="tx2"/>
                          </a:solidFill>
                          <a:latin typeface="Calibri" panose="020F0502020204030204" pitchFamily="34" charset="0"/>
                          <a:ea typeface="MS Mincho" pitchFamily="49" charset="-128"/>
                          <a:cs typeface="Calibri" panose="020F0502020204030204" pitchFamily="34" charset="0"/>
                        </a:rPr>
                        <a:t>GenAI Deployment</a:t>
                      </a:r>
                    </a:p>
                    <a:p>
                      <a:pPr marL="233363" marR="0" indent="-109538" algn="l" defTabSz="914400" rtl="0" eaLnBrk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en-US" sz="1100" b="0" kern="1200">
                          <a:solidFill>
                            <a:schemeClr val="tx2"/>
                          </a:solidFill>
                          <a:latin typeface="Calibri" panose="020F0502020204030204" pitchFamily="34" charset="0"/>
                          <a:ea typeface="MS Mincho" pitchFamily="49" charset="-128"/>
                          <a:cs typeface="Calibri" panose="020F0502020204030204" pitchFamily="34" charset="0"/>
                        </a:rPr>
                        <a:t>AI-Driven Automation</a:t>
                      </a:r>
                    </a:p>
                    <a:p>
                      <a:pPr marL="233363" marR="0" indent="-109538" algn="l" defTabSz="914400" rtl="0" eaLnBrk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en-US" sz="1100" b="0" kern="1200">
                          <a:solidFill>
                            <a:schemeClr val="tx2"/>
                          </a:solidFill>
                          <a:latin typeface="Calibri" panose="020F0502020204030204" pitchFamily="34" charset="0"/>
                          <a:ea typeface="MS Mincho" pitchFamily="49" charset="-128"/>
                          <a:cs typeface="Calibri" panose="020F0502020204030204" pitchFamily="34" charset="0"/>
                        </a:rPr>
                        <a:t>LLM &amp; RAG Systems</a:t>
                      </a:r>
                    </a:p>
                    <a:p>
                      <a:pPr marL="233363" marR="0" indent="-109538" algn="l" defTabSz="914400" rtl="0" eaLnBrk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en-US" sz="1100" b="0" kern="1200">
                          <a:solidFill>
                            <a:schemeClr val="tx2"/>
                          </a:solidFill>
                          <a:latin typeface="Calibri" panose="020F0502020204030204" pitchFamily="34" charset="0"/>
                          <a:ea typeface="MS Mincho" pitchFamily="49" charset="-128"/>
                          <a:cs typeface="Calibri" panose="020F0502020204030204" pitchFamily="34" charset="0"/>
                        </a:rPr>
                        <a:t>LLMOps &amp; CI/CD Pipelines</a:t>
                      </a:r>
                    </a:p>
                    <a:p>
                      <a:pPr marL="233363" marR="0" indent="-109538" algn="l" defTabSz="914400" rtl="0" eaLnBrk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en-US" sz="1100" b="0" kern="1200">
                          <a:solidFill>
                            <a:schemeClr val="tx2"/>
                          </a:solidFill>
                          <a:latin typeface="Calibri" panose="020F0502020204030204" pitchFamily="34" charset="0"/>
                          <a:ea typeface="MS Mincho" pitchFamily="49" charset="-128"/>
                          <a:cs typeface="Calibri" panose="020F0502020204030204" pitchFamily="34" charset="0"/>
                        </a:rPr>
                        <a:t>Team Leadership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4545CA6-19D8-30CD-01BD-AB5CDBDF0CDA}"/>
              </a:ext>
            </a:extLst>
          </p:cNvPr>
          <p:cNvSpPr txBox="1"/>
          <p:nvPr/>
        </p:nvSpPr>
        <p:spPr>
          <a:xfrm>
            <a:off x="3074014" y="1257399"/>
            <a:ext cx="890888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Sankalp More is an AI Deployment Engineer who turns Generative AI into production automation for engineering and business teams. Leading a team of 7, he has delivered enterprise LLM/RAG systems, LLMOps pipelines, and AI-assisted automation across banking, healthcare, and fintech clients, owning the design, development, and deployment of automated solutions.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AutoShape 4" descr="Image of ">
            <a:extLst>
              <a:ext uri="{FF2B5EF4-FFF2-40B4-BE49-F238E27FC236}">
                <a16:creationId xmlns:a16="http://schemas.microsoft.com/office/drawing/2014/main" id="{3A9A404E-D84B-9E2D-30E1-007A624462C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02836" y="3437884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Photo Placeholder"/>
          <p:cNvSpPr/>
          <p:nvPr/>
        </p:nvSpPr>
        <p:spPr>
          <a:xfrm>
            <a:off x="2351217" y="1285413"/>
            <a:ext cx="683558" cy="997325"/>
          </a:xfrm>
          <a:prstGeom prst="rect">
            <a:avLst/>
          </a:prstGeom>
          <a:solidFill>
            <a:schemeClr val="bg2">
              <a:lumMod val="95000"/>
            </a:schemeClr>
          </a:solidFill>
          <a:ln w="9525">
            <a:solidFill>
              <a:schemeClr val="bg2">
                <a:lumMod val="75000"/>
              </a:schemeClr>
            </a:solidFill>
            <a:prstDash val="dash"/>
          </a:ln>
        </p:spPr>
        <p:txBody>
          <a:bodyPr rtlCol="0" anchor="ctr"/>
          <a:lstStyle/>
          <a:p>
            <a:pPr algn="ctr"/>
            <a:r>
              <a:rPr lang="en-US" sz="900" b="0">
                <a:solidFill>
                  <a:schemeClr val="tx2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Photo</a:t>
            </a:r>
          </a:p>
        </p:txBody>
      </p:sp>
    </p:spTree>
    <p:extLst>
      <p:ext uri="{BB962C8B-B14F-4D97-AF65-F5344CB8AC3E}">
        <p14:creationId xmlns:p14="http://schemas.microsoft.com/office/powerpoint/2010/main" val="22184920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37</TotalTime>
  <Words>509</Words>
  <Application>Microsoft Office PowerPoint</Application>
  <PresentationFormat>Widescreen</PresentationFormat>
  <Paragraphs>27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Manjeet Singh (IND)</dc:creator>
  <cp:lastModifiedBy>Akshit Mahajan (IND)</cp:lastModifiedBy>
  <cp:revision>11</cp:revision>
  <dcterms:created xsi:type="dcterms:W3CDTF">2024-06-17T05:13:00Z</dcterms:created>
  <dcterms:modified xsi:type="dcterms:W3CDTF">2026-06-25T15:01:35Z</dcterms:modified>
</cp:coreProperties>
</file>